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3"/>
  </p:notesMasterIdLst>
  <p:sldIdLst>
    <p:sldId id="256" r:id="rId2"/>
    <p:sldId id="282" r:id="rId3"/>
    <p:sldId id="283" r:id="rId4"/>
    <p:sldId id="284" r:id="rId5"/>
    <p:sldId id="281" r:id="rId6"/>
    <p:sldId id="269" r:id="rId7"/>
    <p:sldId id="258" r:id="rId8"/>
    <p:sldId id="272" r:id="rId9"/>
    <p:sldId id="259" r:id="rId10"/>
    <p:sldId id="260" r:id="rId11"/>
    <p:sldId id="261" r:id="rId12"/>
    <p:sldId id="262" r:id="rId13"/>
    <p:sldId id="264" r:id="rId14"/>
    <p:sldId id="265" r:id="rId15"/>
    <p:sldId id="266" r:id="rId16"/>
    <p:sldId id="267" r:id="rId17"/>
    <p:sldId id="270" r:id="rId18"/>
    <p:sldId id="271" r:id="rId19"/>
    <p:sldId id="273" r:id="rId20"/>
    <p:sldId id="277" r:id="rId21"/>
    <p:sldId id="274" r:id="rId22"/>
    <p:sldId id="275" r:id="rId23"/>
    <p:sldId id="278" r:id="rId24"/>
    <p:sldId id="276" r:id="rId25"/>
    <p:sldId id="279" r:id="rId26"/>
    <p:sldId id="280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8436"/>
    <p:restoredTop sz="94716"/>
  </p:normalViewPr>
  <p:slideViewPr>
    <p:cSldViewPr snapToGrid="0" snapToObjects="1">
      <p:cViewPr>
        <p:scale>
          <a:sx n="74" d="100"/>
          <a:sy n="74" d="100"/>
        </p:scale>
        <p:origin x="144" y="1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5206C4-F50B-B84F-A01A-F24F8673FD13}" type="datetimeFigureOut">
              <a:rPr lang="en-US" smtClean="0"/>
              <a:t>11/11/17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F0BEF-13F0-9047-9900-F1A76EEE14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805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CF0BEF-13F0-9047-9900-F1A76EEE145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027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CF0BEF-13F0-9047-9900-F1A76EEE1452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255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30BE3-CE01-D14C-BC1E-5BE20B21F4C3}" type="datetimeFigureOut">
              <a:rPr lang="en-US" smtClean="0"/>
              <a:t>11/11/17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3F29-FCB5-894A-86C7-9C51FBF40C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26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30BE3-CE01-D14C-BC1E-5BE20B21F4C3}" type="datetimeFigureOut">
              <a:rPr lang="en-US" smtClean="0"/>
              <a:t>11/11/17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3F29-FCB5-894A-86C7-9C51FBF40C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153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30BE3-CE01-D14C-BC1E-5BE20B21F4C3}" type="datetimeFigureOut">
              <a:rPr lang="en-US" smtClean="0"/>
              <a:t>11/11/17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3F29-FCB5-894A-86C7-9C51FBF40C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791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30BE3-CE01-D14C-BC1E-5BE20B21F4C3}" type="datetimeFigureOut">
              <a:rPr lang="en-US" smtClean="0"/>
              <a:t>11/11/17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3F29-FCB5-894A-86C7-9C51FBF40C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266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30BE3-CE01-D14C-BC1E-5BE20B21F4C3}" type="datetimeFigureOut">
              <a:rPr lang="en-US" smtClean="0"/>
              <a:t>11/11/17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3F29-FCB5-894A-86C7-9C51FBF40C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392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30BE3-CE01-D14C-BC1E-5BE20B21F4C3}" type="datetimeFigureOut">
              <a:rPr lang="en-US" smtClean="0"/>
              <a:t>11/11/17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3F29-FCB5-894A-86C7-9C51FBF40C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774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30BE3-CE01-D14C-BC1E-5BE20B21F4C3}" type="datetimeFigureOut">
              <a:rPr lang="en-US" smtClean="0"/>
              <a:t>11/11/17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3F29-FCB5-894A-86C7-9C51FBF40C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008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30BE3-CE01-D14C-BC1E-5BE20B21F4C3}" type="datetimeFigureOut">
              <a:rPr lang="en-US" smtClean="0"/>
              <a:t>11/11/17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3F29-FCB5-894A-86C7-9C51FBF40C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273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30BE3-CE01-D14C-BC1E-5BE20B21F4C3}" type="datetimeFigureOut">
              <a:rPr lang="en-US" smtClean="0"/>
              <a:t>11/11/17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3F29-FCB5-894A-86C7-9C51FBF40C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907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30BE3-CE01-D14C-BC1E-5BE20B21F4C3}" type="datetimeFigureOut">
              <a:rPr lang="en-US" smtClean="0"/>
              <a:t>11/11/17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3F29-FCB5-894A-86C7-9C51FBF40C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250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30BE3-CE01-D14C-BC1E-5BE20B21F4C3}" type="datetimeFigureOut">
              <a:rPr lang="en-US" smtClean="0"/>
              <a:t>11/11/17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13F29-FCB5-894A-86C7-9C51FBF40C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46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130BE3-CE01-D14C-BC1E-5BE20B21F4C3}" type="datetimeFigureOut">
              <a:rPr lang="en-US" smtClean="0"/>
              <a:t>11/11/17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13F29-FCB5-894A-86C7-9C51FBF40C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91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Coding Class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</a:t>
            </a:r>
            <a:r>
              <a:rPr lang="en-US" dirty="0" smtClean="0"/>
              <a:t>ith codeacademy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965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facilitate your learning of coding on codeacademy</a:t>
            </a:r>
          </a:p>
          <a:p>
            <a:endParaRPr lang="en-US" dirty="0"/>
          </a:p>
          <a:p>
            <a:r>
              <a:rPr lang="en-US" dirty="0" smtClean="0"/>
              <a:t>Why?</a:t>
            </a:r>
          </a:p>
          <a:p>
            <a:pPr lvl="1"/>
            <a:r>
              <a:rPr lang="en-US" dirty="0" smtClean="0"/>
              <a:t>It’s more motivating to learn together with other people</a:t>
            </a:r>
          </a:p>
          <a:p>
            <a:pPr lvl="1"/>
            <a:r>
              <a:rPr lang="en-US" dirty="0" smtClean="0"/>
              <a:t>If you are stuck, you can get an answer right away</a:t>
            </a:r>
          </a:p>
          <a:p>
            <a:pPr lvl="1"/>
            <a:r>
              <a:rPr lang="en-US" dirty="0" smtClean="0"/>
              <a:t>You can use the knowledge for applying to code bootcamp such as ZipCode Wilmington</a:t>
            </a:r>
          </a:p>
          <a:p>
            <a:pPr lvl="2"/>
            <a:r>
              <a:rPr lang="en-US" dirty="0" smtClean="0"/>
              <a:t>Some code bootcamps guarantee job placement after you finish training with them</a:t>
            </a:r>
          </a:p>
        </p:txBody>
      </p:sp>
    </p:spTree>
    <p:extLst>
      <p:ext uri="{BB962C8B-B14F-4D97-AF65-F5344CB8AC3E}">
        <p14:creationId xmlns:p14="http://schemas.microsoft.com/office/powerpoint/2010/main" val="947663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Sign up to codeacademy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Open browser</a:t>
            </a:r>
          </a:p>
          <a:p>
            <a:r>
              <a:rPr lang="en-US" dirty="0" smtClean="0"/>
              <a:t>Go to codeacademy.com</a:t>
            </a:r>
          </a:p>
          <a:p>
            <a:r>
              <a:rPr lang="en-US" dirty="0" smtClean="0"/>
              <a:t>Sign up</a:t>
            </a:r>
          </a:p>
          <a:p>
            <a:pPr lvl="1"/>
            <a:r>
              <a:rPr lang="en-US" dirty="0" smtClean="0"/>
              <a:t>You can sign up using Facebook, Google account etc – you won’t have to make and remember an extra password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084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Now we’re ready to begin our coding journey together!</a:t>
            </a:r>
          </a:p>
          <a:p>
            <a:r>
              <a:rPr lang="en-US" dirty="0" smtClean="0"/>
              <a:t>Why Java Script?</a:t>
            </a:r>
          </a:p>
          <a:p>
            <a:pPr lvl="1"/>
            <a:r>
              <a:rPr lang="en-US" dirty="0" smtClean="0"/>
              <a:t>It’s the best programming language to start learning how to code</a:t>
            </a:r>
          </a:p>
          <a:p>
            <a:pPr lvl="1"/>
            <a:r>
              <a:rPr lang="en-US" dirty="0" smtClean="0"/>
              <a:t>It’s useful for many things especially web development</a:t>
            </a:r>
          </a:p>
          <a:p>
            <a:pPr lvl="2"/>
            <a:r>
              <a:rPr lang="en-US" dirty="0" smtClean="0"/>
              <a:t>It’s not enough to learn HTML to create a website, sometimes you want your website to not just display information, but also do things! Interact with people </a:t>
            </a:r>
            <a:r>
              <a:rPr lang="is-IS" dirty="0" smtClean="0"/>
              <a:t>…</a:t>
            </a:r>
            <a:endParaRPr lang="en-US" dirty="0" smtClean="0"/>
          </a:p>
          <a:p>
            <a:pPr lvl="2"/>
            <a:r>
              <a:rPr lang="en-US" dirty="0" smtClean="0"/>
              <a:t>Develop websites like Netflix, Airbnb</a:t>
            </a:r>
            <a:r>
              <a:rPr lang="is-IS" dirty="0" smtClean="0"/>
              <a:t>…</a:t>
            </a:r>
          </a:p>
          <a:p>
            <a:pPr lvl="2"/>
            <a:r>
              <a:rPr lang="is-IS" dirty="0" smtClean="0"/>
              <a:t>Want to start your own online web application?</a:t>
            </a:r>
          </a:p>
        </p:txBody>
      </p:sp>
    </p:spTree>
    <p:extLst>
      <p:ext uri="{BB962C8B-B14F-4D97-AF65-F5344CB8AC3E}">
        <p14:creationId xmlns:p14="http://schemas.microsoft.com/office/powerpoint/2010/main" val="177882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Intro to Java Script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</a:t>
            </a:r>
            <a:r>
              <a:rPr lang="en-US" dirty="0" smtClean="0"/>
              <a:t>ith codeacademy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423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</a:rPr>
              <a:t>Data Types </a:t>
            </a:r>
            <a:r>
              <a:rPr lang="en-US" dirty="0" smtClean="0"/>
              <a:t>in Java Script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String</a:t>
            </a:r>
            <a:br>
              <a:rPr lang="en-US" dirty="0" smtClean="0"/>
            </a:br>
            <a:r>
              <a:rPr lang="en-US" dirty="0" smtClean="0"/>
              <a:t>	</a:t>
            </a:r>
            <a:r>
              <a:rPr lang="uk-UA" dirty="0" smtClean="0"/>
              <a:t>'</a:t>
            </a:r>
            <a:r>
              <a:rPr lang="en-US" dirty="0" smtClean="0"/>
              <a:t>Hello World!</a:t>
            </a:r>
            <a:r>
              <a:rPr lang="uk-UA" dirty="0" smtClean="0"/>
              <a:t>' </a:t>
            </a:r>
            <a:r>
              <a:rPr lang="nl-NL" dirty="0" smtClean="0"/>
              <a:t/>
            </a:r>
            <a:br>
              <a:rPr lang="nl-NL" dirty="0" smtClean="0"/>
            </a:br>
            <a:r>
              <a:rPr lang="nl-NL" dirty="0" smtClean="0"/>
              <a:t>	</a:t>
            </a:r>
            <a:r>
              <a:rPr lang="ru-RU" dirty="0" smtClean="0"/>
              <a:t>"</a:t>
            </a:r>
            <a:r>
              <a:rPr lang="en-US" dirty="0" smtClean="0"/>
              <a:t>Hello World!</a:t>
            </a:r>
            <a:r>
              <a:rPr lang="ru-RU" dirty="0" smtClean="0"/>
              <a:t>"</a:t>
            </a:r>
            <a:endParaRPr lang="en-US" dirty="0" smtClean="0"/>
          </a:p>
          <a:p>
            <a:pPr lvl="0"/>
            <a:r>
              <a:rPr lang="en-US" dirty="0" smtClean="0"/>
              <a:t>Number</a:t>
            </a:r>
            <a:br>
              <a:rPr lang="en-US" dirty="0" smtClean="0"/>
            </a:br>
            <a:r>
              <a:rPr lang="en-US" dirty="0" smtClean="0"/>
              <a:t>	200</a:t>
            </a:r>
            <a:br>
              <a:rPr lang="en-US" dirty="0" smtClean="0"/>
            </a:br>
            <a:r>
              <a:rPr lang="en-US" dirty="0" smtClean="0"/>
              <a:t>	5</a:t>
            </a:r>
            <a:br>
              <a:rPr lang="en-US" dirty="0" smtClean="0"/>
            </a:br>
            <a:r>
              <a:rPr lang="en-US" dirty="0" smtClean="0"/>
              <a:t>	3.32</a:t>
            </a:r>
          </a:p>
          <a:p>
            <a:pPr lvl="0"/>
            <a:r>
              <a:rPr lang="en-US" dirty="0" smtClean="0"/>
              <a:t>Boolean</a:t>
            </a:r>
            <a:br>
              <a:rPr lang="en-US" dirty="0" smtClean="0"/>
            </a:br>
            <a:r>
              <a:rPr lang="en-US" dirty="0" smtClean="0"/>
              <a:t>	true</a:t>
            </a:r>
            <a:br>
              <a:rPr lang="en-US" dirty="0" smtClean="0"/>
            </a:br>
            <a:r>
              <a:rPr lang="en-US" dirty="0" smtClean="0"/>
              <a:t>	false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362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</a:rPr>
              <a:t>Print</a:t>
            </a:r>
            <a:r>
              <a:rPr lang="en-US" dirty="0" smtClean="0"/>
              <a:t> to screen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If you want to know what your code is doing, print the output to the screen: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console.log('what to print here');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console.log(200);</a:t>
            </a:r>
            <a:br>
              <a:rPr lang="en-US" dirty="0" smtClean="0"/>
            </a:br>
            <a:r>
              <a:rPr lang="en-US" dirty="0" smtClean="0"/>
              <a:t>console.log('Andy has', 50, 'dollars in his wallet'); </a:t>
            </a:r>
            <a:br>
              <a:rPr lang="en-US" dirty="0" smtClean="0"/>
            </a:br>
            <a:r>
              <a:rPr lang="en-US" dirty="0" smtClean="0"/>
              <a:t>console.log(2 + 5);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console.log(2 - 5);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console.log(2 / 3);</a:t>
            </a:r>
            <a:br>
              <a:rPr lang="en-US" dirty="0" smtClean="0"/>
            </a:br>
            <a:r>
              <a:rPr lang="en-US" dirty="0" smtClean="0"/>
              <a:t>console.log(2 * 3);</a:t>
            </a:r>
          </a:p>
        </p:txBody>
      </p:sp>
    </p:spTree>
    <p:extLst>
      <p:ext uri="{BB962C8B-B14F-4D97-AF65-F5344CB8AC3E}">
        <p14:creationId xmlns:p14="http://schemas.microsoft.com/office/powerpoint/2010/main" val="280020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</a:rPr>
              <a:t>Print</a:t>
            </a:r>
            <a:r>
              <a:rPr lang="en-US" dirty="0" smtClean="0"/>
              <a:t> to screen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if I want to print out ' ?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console.log('hello my name\' s Anne');</a:t>
            </a:r>
          </a:p>
          <a:p>
            <a:endParaRPr lang="en-US" dirty="0"/>
          </a:p>
          <a:p>
            <a:r>
              <a:rPr lang="en-US" dirty="0" smtClean="0"/>
              <a:t>Use \ to "escape" a character: make it print out to screen as is</a:t>
            </a:r>
          </a:p>
        </p:txBody>
      </p:sp>
    </p:spTree>
    <p:extLst>
      <p:ext uri="{BB962C8B-B14F-4D97-AF65-F5344CB8AC3E}">
        <p14:creationId xmlns:p14="http://schemas.microsoft.com/office/powerpoint/2010/main" val="793689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</a:rPr>
              <a:t>Modulus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remainder after division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10 / 2 = 5</a:t>
            </a:r>
            <a:br>
              <a:rPr lang="en-US" dirty="0" smtClean="0"/>
            </a:br>
            <a:r>
              <a:rPr lang="en-US" dirty="0" smtClean="0"/>
              <a:t>10 % 2 = 0</a:t>
            </a:r>
            <a:br>
              <a:rPr lang="en-US" dirty="0" smtClean="0"/>
            </a:br>
            <a:r>
              <a:rPr lang="en-US" dirty="0" smtClean="0"/>
              <a:t>10 / 3 = </a:t>
            </a:r>
            <a:r>
              <a:rPr lang="hr-HR" dirty="0"/>
              <a:t>3.33333333333 </a:t>
            </a:r>
            <a:r>
              <a:rPr lang="hr-HR" dirty="0" smtClean="0"/>
              <a:t/>
            </a:r>
            <a:br>
              <a:rPr lang="hr-HR" dirty="0" smtClean="0"/>
            </a:br>
            <a:r>
              <a:rPr lang="hr-HR" dirty="0" smtClean="0"/>
              <a:t>10 % 3 = 1</a:t>
            </a:r>
            <a:br>
              <a:rPr lang="hr-HR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103787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Generate </a:t>
            </a:r>
            <a:r>
              <a:rPr lang="en-US" b="1" dirty="0" smtClean="0">
                <a:solidFill>
                  <a:schemeClr val="accent1"/>
                </a:solidFill>
              </a:rPr>
              <a:t>random number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Math.random();</a:t>
            </a:r>
            <a:br>
              <a:rPr lang="en-US" dirty="0" smtClean="0"/>
            </a:br>
            <a:r>
              <a:rPr lang="en-US" dirty="0" smtClean="0"/>
              <a:t>Generate a number between 0 and 1 randomly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Math.random() * 10;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Generate a number between 0 and 10 randomly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Math.random() * 50;</a:t>
            </a:r>
            <a:br>
              <a:rPr lang="en-US" dirty="0" smtClean="0"/>
            </a:br>
            <a:r>
              <a:rPr lang="en-US" dirty="0" smtClean="0"/>
              <a:t>Generate a number between 0 and 50 randomly</a:t>
            </a:r>
            <a:br>
              <a:rPr lang="en-US" dirty="0" smtClean="0"/>
            </a:b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93470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</a:rPr>
              <a:t>Round a number </a:t>
            </a:r>
            <a:r>
              <a:rPr lang="en-US" dirty="0" smtClean="0"/>
              <a:t>to nearest integer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Round down: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Math.floor(number)</a:t>
            </a:r>
            <a:br>
              <a:rPr lang="en-US" dirty="0" smtClean="0"/>
            </a:br>
            <a:r>
              <a:rPr lang="en-US" dirty="0" smtClean="0"/>
              <a:t>Math.floor(10/3) = 3</a:t>
            </a:r>
          </a:p>
          <a:p>
            <a:endParaRPr lang="en-US" dirty="0"/>
          </a:p>
          <a:p>
            <a:r>
              <a:rPr lang="en-US" dirty="0" smtClean="0"/>
              <a:t>Round up</a:t>
            </a:r>
            <a:br>
              <a:rPr lang="en-US" dirty="0" smtClean="0"/>
            </a:br>
            <a:r>
              <a:rPr lang="en-US" dirty="0" smtClean="0"/>
              <a:t>Math.ceil(number)</a:t>
            </a:r>
            <a:br>
              <a:rPr lang="en-US" dirty="0" smtClean="0"/>
            </a:br>
            <a:r>
              <a:rPr lang="en-US" dirty="0" smtClean="0"/>
              <a:t>Math.ceil(10/3) = 4</a:t>
            </a:r>
            <a:br>
              <a:rPr lang="en-US" dirty="0" smtClean="0"/>
            </a:b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30287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</a:rPr>
              <a:t>Comments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You can make comments in the code, to remember what you’re doing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// The first 5 decimals of pi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console.log</a:t>
            </a:r>
            <a:r>
              <a:rPr lang="en-US" dirty="0"/>
              <a:t>('Pi is equal to ' + 3.14159</a:t>
            </a:r>
            <a:r>
              <a:rPr lang="en-US" dirty="0" smtClean="0"/>
              <a:t>);</a:t>
            </a:r>
          </a:p>
          <a:p>
            <a:endParaRPr lang="en-US" dirty="0"/>
          </a:p>
          <a:p>
            <a:r>
              <a:rPr lang="en-US" dirty="0" smtClean="0"/>
              <a:t>You can also comment out part of the code that you don’t want to run: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// console.log('I don’t want to run this code');</a:t>
            </a:r>
          </a:p>
          <a:p>
            <a:endParaRPr lang="en-US" dirty="0"/>
          </a:p>
          <a:p>
            <a:r>
              <a:rPr lang="en-US" dirty="0" smtClean="0"/>
              <a:t>And you can comment out multiple lines: using /* </a:t>
            </a:r>
            <a:r>
              <a:rPr lang="is-IS" dirty="0" smtClean="0"/>
              <a:t>… */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/* console.log('All of this code');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console.log</a:t>
            </a:r>
            <a:r>
              <a:rPr lang="en-US" dirty="0"/>
              <a:t>('Is commented out');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console.log</a:t>
            </a:r>
            <a:r>
              <a:rPr lang="en-US" dirty="0"/>
              <a:t>('And will not be executed); */</a:t>
            </a:r>
          </a:p>
        </p:txBody>
      </p:sp>
    </p:spTree>
    <p:extLst>
      <p:ext uri="{BB962C8B-B14F-4D97-AF65-F5344CB8AC3E}">
        <p14:creationId xmlns:p14="http://schemas.microsoft.com/office/powerpoint/2010/main" val="732247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Exercise Time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</a:t>
            </a:r>
            <a:r>
              <a:rPr lang="en-US" dirty="0" smtClean="0"/>
              <a:t>n codeacademy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576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</a:rPr>
              <a:t>Variables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Variables are storage, to store data. It can store number, boolean, or String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var myFavoriteNumber = 29;</a:t>
            </a:r>
            <a:br>
              <a:rPr lang="en-US" dirty="0" smtClean="0"/>
            </a:br>
            <a:r>
              <a:rPr lang="en-US" dirty="0" smtClean="0"/>
              <a:t>var likesChocolate = false;</a:t>
            </a:r>
            <a:br>
              <a:rPr lang="en-US" dirty="0" smtClean="0"/>
            </a:br>
            <a:r>
              <a:rPr lang="en-US" dirty="0" smtClean="0"/>
              <a:t>var myName = 'Derry';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console.log(likesChocolate);</a:t>
            </a:r>
            <a:br>
              <a:rPr lang="en-US" dirty="0" smtClean="0"/>
            </a:br>
            <a:r>
              <a:rPr lang="en-US" dirty="0" smtClean="0"/>
              <a:t>console.log('My favorite number is', myFavoriteNumber); </a:t>
            </a:r>
            <a:br>
              <a:rPr lang="en-US" dirty="0" smtClean="0"/>
            </a:br>
            <a:r>
              <a:rPr lang="en-US" dirty="0" smtClean="0"/>
              <a:t>console.log('My name is', myName);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85844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</a:rPr>
              <a:t>Change</a:t>
            </a:r>
            <a:r>
              <a:rPr lang="en-US" dirty="0" smtClean="0"/>
              <a:t> variable 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1743267" cy="4351338"/>
          </a:xfrm>
        </p:spPr>
        <p:txBody>
          <a:bodyPr>
            <a:normAutofit fontScale="92500" lnSpcReduction="10000"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smtClean="0"/>
              <a:t>var myFavoriteNumber = 29;</a:t>
            </a:r>
            <a:br>
              <a:rPr lang="en-US" dirty="0" smtClean="0"/>
            </a:br>
            <a:r>
              <a:rPr lang="en-US" dirty="0" smtClean="0"/>
              <a:t>var likesChocolate = false;</a:t>
            </a:r>
            <a:br>
              <a:rPr lang="en-US" dirty="0" smtClean="0"/>
            </a:br>
            <a:r>
              <a:rPr lang="en-US" dirty="0" smtClean="0"/>
              <a:t>var myName = 'Derry';</a:t>
            </a:r>
            <a:br>
              <a:rPr lang="en-US" dirty="0" smtClean="0"/>
            </a:br>
            <a:endParaRPr lang="en-US" dirty="0" smtClean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smtClean="0"/>
              <a:t>myFavoriteNumber = myFavoriteNumber + 3;</a:t>
            </a:r>
            <a:br>
              <a:rPr lang="en-US" dirty="0" smtClean="0"/>
            </a:br>
            <a:r>
              <a:rPr lang="en-US" dirty="0" smtClean="0"/>
              <a:t>likesChocolate = true;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smtClean="0"/>
              <a:t>myName = myName + ' Wijaya'; // String interpolation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console.log(likesChocolate);</a:t>
            </a:r>
            <a:br>
              <a:rPr lang="en-US" dirty="0" smtClean="0"/>
            </a:br>
            <a:r>
              <a:rPr lang="en-US" dirty="0" smtClean="0"/>
              <a:t>console.log('My favorite number is ' + myFavoriteNumber);  // String interpolation</a:t>
            </a:r>
            <a:br>
              <a:rPr lang="en-US" dirty="0" smtClean="0"/>
            </a:br>
            <a:r>
              <a:rPr lang="en-US" dirty="0" smtClean="0"/>
              <a:t>console.log('My name is', myName);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 smtClean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151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Exercise Time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</a:t>
            </a:r>
            <a:r>
              <a:rPr lang="en-US" dirty="0" smtClean="0"/>
              <a:t>n </a:t>
            </a:r>
            <a:r>
              <a:rPr lang="en-US" dirty="0" err="1" smtClean="0"/>
              <a:t>codeacademy</a:t>
            </a:r>
            <a:endParaRPr lang="en-US" dirty="0" smtClean="0"/>
          </a:p>
          <a:p>
            <a:r>
              <a:rPr lang="en-US" dirty="0" smtClean="0"/>
              <a:t>Variables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477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</a:rPr>
              <a:t>Control Flow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Making decision which part of your code will run: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If/else statements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We make this kind of decision every day!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If you clean up your room, I will let you watch TV</a:t>
            </a:r>
            <a:br>
              <a:rPr lang="en-US" dirty="0" smtClean="0"/>
            </a:br>
            <a:r>
              <a:rPr lang="en-US" dirty="0" smtClean="0"/>
              <a:t>If the weather is good today, we’ll go to the beach</a:t>
            </a:r>
            <a:br>
              <a:rPr lang="en-US" dirty="0" smtClean="0"/>
            </a:br>
            <a:r>
              <a:rPr lang="is-IS" smtClean="0"/>
              <a:t>…</a:t>
            </a:r>
            <a:br>
              <a:rPr lang="is-IS" smtClean="0"/>
            </a:br>
            <a:r>
              <a:rPr lang="is-IS" smtClean="0"/>
              <a:t/>
            </a:r>
            <a:br>
              <a:rPr lang="is-IS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60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</a:rPr>
              <a:t>If/else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Instruct computers which part of your code to run: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var kidCleanUp= true;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if (kidCleanUp) {</a:t>
            </a:r>
            <a:br>
              <a:rPr lang="en-US" dirty="0" smtClean="0"/>
            </a:br>
            <a:r>
              <a:rPr lang="en-US" dirty="0" smtClean="0"/>
              <a:t>	console.log('Sure, you can watch TV');</a:t>
            </a:r>
            <a:br>
              <a:rPr lang="en-US" dirty="0" smtClean="0"/>
            </a:br>
            <a:r>
              <a:rPr lang="en-US" dirty="0" smtClean="0"/>
              <a:t>} else {</a:t>
            </a:r>
            <a:br>
              <a:rPr lang="en-US" dirty="0" smtClean="0"/>
            </a:br>
            <a:r>
              <a:rPr lang="en-US" dirty="0" smtClean="0"/>
              <a:t>	console.log('No watching TV until you clean up!');</a:t>
            </a:r>
            <a:br>
              <a:rPr lang="en-US" dirty="0" smtClean="0"/>
            </a:br>
            <a:r>
              <a:rPr lang="en-US" dirty="0" smtClean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95644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</a:rPr>
              <a:t>Comparison Operators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5492"/>
            <a:ext cx="10515600" cy="5252508"/>
          </a:xfrm>
        </p:spPr>
        <p:txBody>
          <a:bodyPr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=== check if two things equal each other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!== check if two things do not equal each other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var kidBehavior = 'nice';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if (kidBehavior === 'nice') 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	</a:t>
            </a:r>
            <a:r>
              <a:rPr lang="en-US" dirty="0" smtClean="0"/>
              <a:t>console.log('good job!');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}</a:t>
            </a: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if (kidBehavior !== 'nice') 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	</a:t>
            </a:r>
            <a:r>
              <a:rPr lang="en-US" dirty="0" smtClean="0"/>
              <a:t>console.log('Be nice!');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}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298265" y="3589867"/>
            <a:ext cx="450426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600" dirty="0"/>
              <a:t>if (kidBehavior === 'nice') {</a:t>
            </a:r>
          </a:p>
          <a:p>
            <a:pPr lvl="0">
              <a:defRPr/>
            </a:pPr>
            <a:r>
              <a:rPr lang="en-US" sz="2600" dirty="0"/>
              <a:t>	console.log('good job!');</a:t>
            </a:r>
          </a:p>
          <a:p>
            <a:pPr lvl="0">
              <a:defRPr/>
            </a:pPr>
            <a:r>
              <a:rPr lang="en-US" sz="2600" dirty="0"/>
              <a:t>} else {</a:t>
            </a:r>
          </a:p>
          <a:p>
            <a:pPr>
              <a:defRPr/>
            </a:pPr>
            <a:r>
              <a:rPr lang="en-US" sz="2600" dirty="0"/>
              <a:t>	console.log('Be nice!');</a:t>
            </a:r>
          </a:p>
          <a:p>
            <a:pPr lvl="0">
              <a:defRPr/>
            </a:pPr>
            <a:r>
              <a:rPr lang="en-US" sz="2600" dirty="0"/>
              <a:t>}</a:t>
            </a:r>
          </a:p>
          <a:p>
            <a:endParaRPr lang="en-US" sz="26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6079067" y="2810934"/>
            <a:ext cx="0" cy="3759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4913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</a:rPr>
              <a:t>Comparison Operators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92108"/>
          </a:xfrm>
        </p:spPr>
        <p:txBody>
          <a:bodyPr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600" dirty="0" smtClean="0"/>
              <a:t>&gt; check if the first value is bigger than the second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600" dirty="0" smtClean="0"/>
              <a:t>&gt;= check if the first value is bigger than or equal to the second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dirty="0" smtClean="0"/>
              <a:t>&lt; check if the first value is smaller than the second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dirty="0" smtClean="0"/>
              <a:t>&lt;= check if the first value is smaller than or equal to the second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600" dirty="0" smtClean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600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38200" y="3964900"/>
            <a:ext cx="107950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600" dirty="0"/>
              <a:t>var yourAge = '105</a:t>
            </a:r>
            <a:r>
              <a:rPr lang="en-US" sz="2600" dirty="0" smtClean="0"/>
              <a:t>';</a:t>
            </a:r>
          </a:p>
          <a:p>
            <a:pPr lvl="0">
              <a:defRPr/>
            </a:pPr>
            <a:r>
              <a:rPr lang="en-US" sz="2600" dirty="0" smtClean="0"/>
              <a:t>if (yourAge &gt; 100) </a:t>
            </a:r>
            <a:r>
              <a:rPr lang="en-US" sz="2600" dirty="0"/>
              <a:t>{</a:t>
            </a:r>
          </a:p>
          <a:p>
            <a:pPr lvl="0">
              <a:defRPr/>
            </a:pPr>
            <a:r>
              <a:rPr lang="en-US" sz="2600" dirty="0"/>
              <a:t>	console.log</a:t>
            </a:r>
            <a:r>
              <a:rPr lang="en-US" sz="2600" dirty="0" smtClean="0"/>
              <a:t>('Wow! It\'s a miracle you\'re still alive!');</a:t>
            </a:r>
            <a:endParaRPr lang="en-US" sz="2600" dirty="0"/>
          </a:p>
          <a:p>
            <a:pPr lvl="0">
              <a:defRPr/>
            </a:pPr>
            <a:r>
              <a:rPr lang="en-US" sz="2600" dirty="0"/>
              <a:t>} else {</a:t>
            </a:r>
          </a:p>
          <a:p>
            <a:pPr>
              <a:defRPr/>
            </a:pPr>
            <a:r>
              <a:rPr lang="en-US" sz="2600" dirty="0"/>
              <a:t>	console.log('Be </a:t>
            </a:r>
            <a:r>
              <a:rPr lang="en-US" sz="2600" dirty="0" smtClean="0"/>
              <a:t>nice to old people!');</a:t>
            </a:r>
            <a:endParaRPr lang="en-US" sz="2600" dirty="0"/>
          </a:p>
          <a:p>
            <a:pPr lvl="0">
              <a:defRPr/>
            </a:pPr>
            <a:r>
              <a:rPr lang="en-US" sz="2600" dirty="0"/>
              <a:t>}</a:t>
            </a:r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64068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more conditions (using </a:t>
            </a:r>
            <a:r>
              <a:rPr lang="en-US" b="1" dirty="0" smtClean="0">
                <a:solidFill>
                  <a:schemeClr val="accent1"/>
                </a:solidFill>
              </a:rPr>
              <a:t>else if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smtClean="0"/>
              <a:t>var kidBehavior = 'rolling on the floor';</a:t>
            </a:r>
            <a:br>
              <a:rPr lang="en-US" dirty="0" smtClean="0"/>
            </a:br>
            <a:endParaRPr lang="en-US" dirty="0" smtClean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if (kidBehavior === 'good')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smtClean="0"/>
              <a:t>	console.log('good job!');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smtClean="0"/>
              <a:t>} else if (kidBehavior === 'bad') {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dirty="0"/>
              <a:t>	console.log('Be nice!');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smtClean="0"/>
              <a:t>} else if (kidBehavior === 'really nice') {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smtClean="0"/>
              <a:t>	console.log('You are being suspiciously nice!');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} else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smtClean="0"/>
              <a:t>	console.log('I\'m not sure how to respond to this</a:t>
            </a:r>
            <a:r>
              <a:rPr lang="is-IS" dirty="0" smtClean="0"/>
              <a:t>…</a:t>
            </a:r>
            <a:r>
              <a:rPr lang="en-US" dirty="0" smtClean="0"/>
              <a:t>');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}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75959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more conditions (using </a:t>
            </a:r>
            <a:r>
              <a:rPr lang="en-US" b="1" dirty="0" smtClean="0">
                <a:solidFill>
                  <a:schemeClr val="accent1"/>
                </a:solidFill>
              </a:rPr>
              <a:t>switch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45579"/>
          </a:xfrm>
        </p:spPr>
        <p:txBody>
          <a:bodyPr>
            <a:normAutofit fontScale="85000" lnSpcReduction="20000"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var kidBehavior = 'rolling on the floor';</a:t>
            </a:r>
            <a:br>
              <a:rPr lang="en-US" dirty="0" smtClean="0"/>
            </a:br>
            <a:endParaRPr lang="en-US" dirty="0" smtClean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switch (kidBehavior)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	</a:t>
            </a:r>
            <a:r>
              <a:rPr lang="en-US" dirty="0" smtClean="0"/>
              <a:t>case 'good':</a:t>
            </a:r>
            <a:br>
              <a:rPr lang="en-US" dirty="0" smtClean="0"/>
            </a:br>
            <a:r>
              <a:rPr lang="en-US" dirty="0" smtClean="0"/>
              <a:t>		console.log('good job!');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	</a:t>
            </a:r>
            <a:r>
              <a:rPr lang="en-US" dirty="0" smtClean="0"/>
              <a:t>	break;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	</a:t>
            </a:r>
            <a:r>
              <a:rPr lang="en-US" dirty="0" smtClean="0"/>
              <a:t>case 'bad':</a:t>
            </a:r>
            <a:br>
              <a:rPr lang="en-US" dirty="0" smtClean="0"/>
            </a:br>
            <a:r>
              <a:rPr lang="en-US" dirty="0" smtClean="0"/>
              <a:t>		console.log('Be nice!');</a:t>
            </a:r>
            <a:br>
              <a:rPr lang="en-US" dirty="0" smtClean="0"/>
            </a:br>
            <a:r>
              <a:rPr lang="en-US" dirty="0" smtClean="0"/>
              <a:t>		break;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	</a:t>
            </a:r>
            <a:r>
              <a:rPr lang="en-US" dirty="0" smtClean="0"/>
              <a:t>case 'really nice':</a:t>
            </a:r>
            <a:br>
              <a:rPr lang="en-US" dirty="0" smtClean="0"/>
            </a:br>
            <a:r>
              <a:rPr lang="en-US" dirty="0" smtClean="0"/>
              <a:t>		console.log('You are being suspiciously nice!');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smtClean="0"/>
              <a:t>		break;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	</a:t>
            </a:r>
            <a:r>
              <a:rPr lang="en-US" dirty="0" smtClean="0"/>
              <a:t>default:</a:t>
            </a:r>
            <a:br>
              <a:rPr lang="en-US" dirty="0" smtClean="0"/>
            </a:br>
            <a:r>
              <a:rPr lang="en-US" dirty="0" smtClean="0"/>
              <a:t>		console.log('I\'m not sure how to respond to this</a:t>
            </a:r>
            <a:r>
              <a:rPr lang="is-IS" dirty="0" smtClean="0"/>
              <a:t>…</a:t>
            </a:r>
            <a:r>
              <a:rPr lang="en-US" dirty="0" smtClean="0"/>
              <a:t>');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	</a:t>
            </a:r>
            <a:r>
              <a:rPr lang="en-US" dirty="0" smtClean="0"/>
              <a:t>	break;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6744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</a:rPr>
              <a:t>Logical Operators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if you want to say </a:t>
            </a:r>
            <a:r>
              <a:rPr lang="en-US" b="1" i="1" dirty="0" smtClean="0"/>
              <a:t>either</a:t>
            </a:r>
            <a:r>
              <a:rPr lang="en-US" dirty="0" smtClean="0"/>
              <a:t> this condition must be true or that must be true? Use ||</a:t>
            </a:r>
          </a:p>
          <a:p>
            <a:r>
              <a:rPr lang="en-US" dirty="0" smtClean="0"/>
              <a:t>What if you want to say </a:t>
            </a:r>
            <a:r>
              <a:rPr lang="en-US" b="1" i="1" dirty="0" smtClean="0"/>
              <a:t>both</a:t>
            </a:r>
            <a:r>
              <a:rPr lang="en-US" dirty="0" smtClean="0"/>
              <a:t> this condition must be true? Use &amp;&amp;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var kidBehavior = 'stomping feet';</a:t>
            </a:r>
            <a:br>
              <a:rPr lang="en-US" dirty="0" smtClean="0"/>
            </a:br>
            <a:r>
              <a:rPr lang="en-US" dirty="0" smtClean="0"/>
              <a:t>var embarrassing = true;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if (kidBehavior === 'bad' || embarrassing) {</a:t>
            </a:r>
            <a:br>
              <a:rPr lang="en-US" dirty="0" smtClean="0"/>
            </a:br>
            <a:r>
              <a:rPr lang="en-US" dirty="0" smtClean="0"/>
              <a:t>	console.log('Stop this behavior at once!');</a:t>
            </a:r>
            <a:br>
              <a:rPr lang="en-US" dirty="0" smtClean="0"/>
            </a:br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74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</a:rPr>
              <a:t>Logical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What if you want to say </a:t>
            </a:r>
            <a:r>
              <a:rPr lang="en-US" b="1" i="1" dirty="0" smtClean="0"/>
              <a:t>either</a:t>
            </a:r>
            <a:r>
              <a:rPr lang="en-US" dirty="0" smtClean="0"/>
              <a:t> this condition must be true or that must be true? Use ||</a:t>
            </a:r>
          </a:p>
          <a:p>
            <a:r>
              <a:rPr lang="en-US" dirty="0" smtClean="0"/>
              <a:t>What if you want to say </a:t>
            </a:r>
            <a:r>
              <a:rPr lang="en-US" b="1" i="1" dirty="0" smtClean="0"/>
              <a:t>both</a:t>
            </a:r>
            <a:r>
              <a:rPr lang="en-US" dirty="0" smtClean="0"/>
              <a:t> this condition must be true? Use &amp;&amp;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var kidBehavior = 'rolling on the floor';</a:t>
            </a:r>
            <a:br>
              <a:rPr lang="en-US" dirty="0" smtClean="0"/>
            </a:br>
            <a:r>
              <a:rPr lang="en-US" dirty="0" smtClean="0"/>
              <a:t>var atHome = true;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if (kidBehavior === 'rolling on the floor' &amp;&amp; atHome) {</a:t>
            </a:r>
            <a:br>
              <a:rPr lang="en-US" dirty="0" smtClean="0"/>
            </a:br>
            <a:r>
              <a:rPr lang="en-US" dirty="0" smtClean="0"/>
              <a:t>	console.log('Are you sleepy?');</a:t>
            </a:r>
            <a:br>
              <a:rPr lang="en-US" dirty="0" smtClean="0"/>
            </a:br>
            <a:r>
              <a:rPr lang="en-US" dirty="0" smtClean="0"/>
              <a:t>}  else {</a:t>
            </a:r>
            <a:br>
              <a:rPr lang="en-US" dirty="0" smtClean="0"/>
            </a:br>
            <a:r>
              <a:rPr lang="en-US" dirty="0" smtClean="0"/>
              <a:t>	console.log('I\'m not sure how to respond to this</a:t>
            </a:r>
            <a:r>
              <a:rPr lang="is-IS" dirty="0" smtClean="0"/>
              <a:t>…</a:t>
            </a:r>
            <a:r>
              <a:rPr lang="en-US" dirty="0" smtClean="0"/>
              <a:t>');</a:t>
            </a:r>
            <a:br>
              <a:rPr lang="en-US" dirty="0" smtClean="0"/>
            </a:br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21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</a:rPr>
              <a:t>Logical Operators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59492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! is to say the opposite of the value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var kidBehavior = 'stomping feet';</a:t>
            </a:r>
            <a:br>
              <a:rPr lang="en-US" dirty="0" smtClean="0"/>
            </a:br>
            <a:r>
              <a:rPr lang="en-US" dirty="0" smtClean="0"/>
              <a:t>var embarrassing = true;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var kidBehavior = 'rolling on the floor';</a:t>
            </a:r>
            <a:br>
              <a:rPr lang="en-US" dirty="0" smtClean="0"/>
            </a:br>
            <a:r>
              <a:rPr lang="en-US" dirty="0" smtClean="0"/>
              <a:t>var atHome = false;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if (kidBehavior === 'rolling on the floor' &amp;&amp; !atHome) {</a:t>
            </a:r>
          </a:p>
          <a:p>
            <a:pPr marL="0" indent="0">
              <a:buNone/>
            </a:pPr>
            <a:r>
              <a:rPr lang="en-US" dirty="0" smtClean="0"/>
              <a:t>	console.log('I\'m not sure how to respond to this</a:t>
            </a:r>
            <a:r>
              <a:rPr lang="is-IS" dirty="0" smtClean="0"/>
              <a:t>…</a:t>
            </a:r>
            <a:r>
              <a:rPr lang="en-US" dirty="0" smtClean="0"/>
              <a:t>');</a:t>
            </a:r>
            <a:br>
              <a:rPr lang="en-US" dirty="0" smtClean="0"/>
            </a:br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622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Exercise Time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</a:t>
            </a:r>
            <a:r>
              <a:rPr lang="en-US" dirty="0" smtClean="0"/>
              <a:t>n </a:t>
            </a:r>
            <a:r>
              <a:rPr lang="en-US" dirty="0" err="1" smtClean="0"/>
              <a:t>codeacademy</a:t>
            </a:r>
            <a:endParaRPr lang="en-US" dirty="0" smtClean="0"/>
          </a:p>
          <a:p>
            <a:r>
              <a:rPr lang="en-US" dirty="0" smtClean="0"/>
              <a:t>Control Flow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935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Like variables, </a:t>
            </a:r>
            <a:r>
              <a:rPr lang="en-US" b="1" i="1" dirty="0" smtClean="0"/>
              <a:t>functions</a:t>
            </a:r>
            <a:r>
              <a:rPr lang="en-US" dirty="0" smtClean="0"/>
              <a:t> is a piece of code that you can call over and over again</a:t>
            </a:r>
          </a:p>
          <a:p>
            <a:r>
              <a:rPr lang="en-US" dirty="0" smtClean="0"/>
              <a:t>They take data/variables as input (we call them </a:t>
            </a:r>
            <a:r>
              <a:rPr lang="en-US" b="1" i="1" dirty="0" smtClean="0"/>
              <a:t>parameters</a:t>
            </a:r>
            <a:r>
              <a:rPr lang="en-US" dirty="0" smtClean="0"/>
              <a:t>) and perform a set of operations on them, and then return the result</a:t>
            </a:r>
          </a:p>
          <a:p>
            <a:r>
              <a:rPr lang="en-US" dirty="0" smtClean="0"/>
              <a:t>When you call a function, you give it </a:t>
            </a:r>
            <a:r>
              <a:rPr lang="en-US" b="1" i="1" dirty="0" smtClean="0"/>
              <a:t>arguments</a:t>
            </a:r>
            <a:r>
              <a:rPr lang="en-US" dirty="0" smtClean="0"/>
              <a:t> as input. The arguments will set the value of the function’s parameters</a:t>
            </a:r>
          </a:p>
          <a:p>
            <a:r>
              <a:rPr lang="en-US" dirty="0" smtClean="0"/>
              <a:t>Let’s go through an example of a function, see if we can figure out how the code works</a:t>
            </a:r>
          </a:p>
        </p:txBody>
      </p:sp>
    </p:spTree>
    <p:extLst>
      <p:ext uri="{BB962C8B-B14F-4D97-AF65-F5344CB8AC3E}">
        <p14:creationId xmlns:p14="http://schemas.microsoft.com/office/powerpoint/2010/main" val="365428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 -- example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6" t="28967" r="67766" b="27836"/>
          <a:stretch/>
        </p:blipFill>
        <p:spPr>
          <a:xfrm>
            <a:off x="838200" y="1370731"/>
            <a:ext cx="5981700" cy="5030069"/>
          </a:xfrm>
        </p:spPr>
      </p:pic>
      <p:cxnSp>
        <p:nvCxnSpPr>
          <p:cNvPr id="7" name="Straight Arrow Connector 6"/>
          <p:cNvCxnSpPr/>
          <p:nvPr/>
        </p:nvCxnSpPr>
        <p:spPr>
          <a:xfrm flipH="1">
            <a:off x="6819900" y="1816100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 flipH="1">
            <a:off x="8064500" y="1631434"/>
            <a:ext cx="340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Make a variable, set it to false</a:t>
            </a:r>
            <a:endParaRPr 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6819900" y="2349500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 flipH="1">
            <a:off x="8064500" y="2164834"/>
            <a:ext cx="452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Make a function called pressPowerButton</a:t>
            </a:r>
            <a:endParaRPr lang="en-US" dirty="0"/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6819900" y="2816265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 flipH="1">
            <a:off x="8064500" y="2631599"/>
            <a:ext cx="452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If the current value of the variable</a:t>
            </a:r>
          </a:p>
          <a:p>
            <a:r>
              <a:rPr lang="en-US" dirty="0" smtClean="0"/>
              <a:t>calculatorOn === true, set it to false</a:t>
            </a:r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6819900" y="3584078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 flipH="1">
            <a:off x="8064500" y="3399412"/>
            <a:ext cx="452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Else, if the current value of the variable</a:t>
            </a:r>
          </a:p>
          <a:p>
            <a:r>
              <a:rPr lang="en-US" dirty="0" smtClean="0"/>
              <a:t>calculatorOn === false, set it to true</a:t>
            </a:r>
            <a:endParaRPr lang="en-US" dirty="0"/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6819900" y="4879478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flipH="1">
            <a:off x="8064500" y="4694812"/>
            <a:ext cx="452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the output here?</a:t>
            </a:r>
          </a:p>
          <a:p>
            <a:pPr marL="342900" indent="-342900">
              <a:buAutoNum type="arabicParenBoth"/>
            </a:pPr>
            <a:r>
              <a:rPr lang="en-US" dirty="0" smtClean="0"/>
              <a:t>What will be printed to the console?</a:t>
            </a:r>
          </a:p>
          <a:p>
            <a:pPr marL="342900" indent="-342900">
              <a:buAutoNum type="arabicParenBoth"/>
            </a:pPr>
            <a:r>
              <a:rPr lang="en-US" dirty="0" smtClean="0"/>
              <a:t>What will be the value of calculatorOn?</a:t>
            </a:r>
            <a:endParaRPr lang="en-US" dirty="0"/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6819900" y="5802808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 flipH="1">
            <a:off x="8064500" y="5618142"/>
            <a:ext cx="452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the output here?</a:t>
            </a:r>
          </a:p>
          <a:p>
            <a:pPr marL="342900" indent="-342900">
              <a:buAutoNum type="arabicParenBoth"/>
            </a:pPr>
            <a:r>
              <a:rPr lang="en-US" dirty="0" smtClean="0"/>
              <a:t>What will be printed to the console?</a:t>
            </a:r>
          </a:p>
          <a:p>
            <a:pPr marL="342900" indent="-342900">
              <a:buAutoNum type="arabicParenBoth"/>
            </a:pPr>
            <a:r>
              <a:rPr lang="en-US" dirty="0" smtClean="0"/>
              <a:t>What will be the value of calculatorOn?</a:t>
            </a:r>
            <a:endParaRPr lang="en-US" dirty="0"/>
          </a:p>
        </p:txBody>
      </p:sp>
      <p:pic>
        <p:nvPicPr>
          <p:cNvPr id="20" name="Content Placeholder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4" t="55998" r="73241" b="41778"/>
          <a:stretch/>
        </p:blipFill>
        <p:spPr>
          <a:xfrm>
            <a:off x="1133856" y="5047488"/>
            <a:ext cx="4389120" cy="374309"/>
          </a:xfrm>
          <a:prstGeom prst="rect">
            <a:avLst/>
          </a:prstGeom>
        </p:spPr>
      </p:pic>
      <p:pic>
        <p:nvPicPr>
          <p:cNvPr id="21" name="Content Placeholder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4" t="55998" r="73241" b="41778"/>
          <a:stretch/>
        </p:blipFill>
        <p:spPr>
          <a:xfrm>
            <a:off x="1133856" y="5750981"/>
            <a:ext cx="4389120" cy="37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48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 can take as input data/variable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6" t="39183" r="67362" b="41846"/>
          <a:stretch/>
        </p:blipFill>
        <p:spPr>
          <a:xfrm>
            <a:off x="698500" y="1813993"/>
            <a:ext cx="6070600" cy="2173807"/>
          </a:xfrm>
        </p:spPr>
      </p:pic>
      <p:cxnSp>
        <p:nvCxnSpPr>
          <p:cNvPr id="5" name="Straight Arrow Connector 4"/>
          <p:cNvCxnSpPr/>
          <p:nvPr/>
        </p:nvCxnSpPr>
        <p:spPr>
          <a:xfrm flipH="1">
            <a:off x="6578600" y="2099933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 flipH="1">
            <a:off x="7823200" y="1915267"/>
            <a:ext cx="452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function that has a parameter called inputNumber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6578600" y="2828924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 flipH="1">
            <a:off x="7823200" y="2644258"/>
            <a:ext cx="452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It multiplies the value of the inputNumber variable by 13, and print out the result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6578600" y="3475255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 flipH="1">
            <a:off x="7823200" y="3290589"/>
            <a:ext cx="452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When you call the function and give it a number 9 as argument, what will be the output?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1" t="37175" r="67396" b="44342"/>
          <a:stretch/>
        </p:blipFill>
        <p:spPr>
          <a:xfrm>
            <a:off x="838200" y="4237997"/>
            <a:ext cx="5930900" cy="2121591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 flipH="1">
            <a:off x="6578600" y="4707075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 flipH="1">
            <a:off x="7823200" y="4522409"/>
            <a:ext cx="452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function that has two parameters named numberOne and numberTwo</a:t>
            </a:r>
            <a:endParaRPr lang="en-US" dirty="0"/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6578600" y="5292564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 flipH="1">
            <a:off x="7823200" y="5107898"/>
            <a:ext cx="452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It computes the remainder of numberOne divided with numberTwo</a:t>
            </a:r>
            <a:endParaRPr lang="en-US" dirty="0"/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6578600" y="5938895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 flipH="1">
            <a:off x="7823200" y="5754229"/>
            <a:ext cx="4521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When you call the function and give it as arguments, two numbers: 365 and 27, what will be  the output?</a:t>
            </a:r>
            <a:endParaRPr lang="en-US" dirty="0"/>
          </a:p>
        </p:txBody>
      </p:sp>
      <p:pic>
        <p:nvPicPr>
          <p:cNvPr id="18" name="Content Placeholder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4" t="55998" r="73241" b="41778"/>
          <a:stretch/>
        </p:blipFill>
        <p:spPr>
          <a:xfrm>
            <a:off x="1135380" y="5847131"/>
            <a:ext cx="4389120" cy="374309"/>
          </a:xfrm>
          <a:prstGeom prst="rect">
            <a:avLst/>
          </a:prstGeom>
        </p:spPr>
      </p:pic>
      <p:pic>
        <p:nvPicPr>
          <p:cNvPr id="19" name="Content Placeholder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4" t="55998" r="73241" b="41778"/>
          <a:stretch/>
        </p:blipFill>
        <p:spPr>
          <a:xfrm>
            <a:off x="1135380" y="3426599"/>
            <a:ext cx="4389120" cy="37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16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can return a result instead of printing to screen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9" t="30500" r="67593" b="51594"/>
          <a:stretch/>
        </p:blipFill>
        <p:spPr>
          <a:xfrm>
            <a:off x="694943" y="1828799"/>
            <a:ext cx="7143009" cy="2454113"/>
          </a:xfrm>
        </p:spPr>
      </p:pic>
      <p:pic>
        <p:nvPicPr>
          <p:cNvPr id="5" name="Content Placeholder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4" t="55998" r="73241" b="41778"/>
          <a:stretch/>
        </p:blipFill>
        <p:spPr>
          <a:xfrm>
            <a:off x="1025652" y="3707435"/>
            <a:ext cx="4389120" cy="374309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>
            <a:off x="6694952" y="2323779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 flipH="1">
            <a:off x="7837952" y="2100047"/>
            <a:ext cx="4521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function that has two parameters named numberOne and numberTwo and returns the remainder of the values of the two variables as result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6593352" y="3634857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 flipH="1">
            <a:off x="7837952" y="3450191"/>
            <a:ext cx="41527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console.log is printing the result of calling the function with two numbers as arguments: 365 and 27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33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 can call each other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9" t="29983" r="65067" b="48820"/>
          <a:stretch/>
        </p:blipFill>
        <p:spPr>
          <a:xfrm>
            <a:off x="838200" y="1690688"/>
            <a:ext cx="6056376" cy="2350960"/>
          </a:xfrm>
        </p:spPr>
      </p:pic>
      <p:cxnSp>
        <p:nvCxnSpPr>
          <p:cNvPr id="5" name="Straight Arrow Connector 4"/>
          <p:cNvCxnSpPr/>
          <p:nvPr/>
        </p:nvCxnSpPr>
        <p:spPr>
          <a:xfrm flipH="1">
            <a:off x="6177788" y="1875354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 flipH="1">
            <a:off x="7422388" y="1690688"/>
            <a:ext cx="4769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function that multiplies its parameter with 9/5 and returns the result</a:t>
            </a:r>
            <a:endParaRPr lang="en-US" dirty="0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6177788" y="2877751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 flipH="1">
            <a:off x="7422388" y="2693085"/>
            <a:ext cx="47696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function calls the multiplyByNineFifths function and passes its parameter as argument to the function and returns the result of the function plus 32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6988556" y="3940440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 flipH="1">
            <a:off x="8233156" y="3755774"/>
            <a:ext cx="4769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will be the output here?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56488" y="4644100"/>
            <a:ext cx="1018471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If you type console.log(</a:t>
            </a:r>
            <a:r>
              <a:rPr lang="en-US" sz="2400" dirty="0" err="1" smtClean="0"/>
              <a:t>celcius</a:t>
            </a:r>
            <a:r>
              <a:rPr lang="en-US" sz="2400" dirty="0" smtClean="0"/>
              <a:t>) outside the function call, will it return anything? </a:t>
            </a:r>
          </a:p>
          <a:p>
            <a:r>
              <a:rPr lang="en-US" sz="2400" dirty="0" smtClean="0"/>
              <a:t>Or will it return error?</a:t>
            </a:r>
          </a:p>
          <a:p>
            <a:endParaRPr lang="en-US" sz="2400" dirty="0"/>
          </a:p>
          <a:p>
            <a:r>
              <a:rPr lang="en-US" sz="2400" dirty="0" smtClean="0"/>
              <a:t>This is the next topic </a:t>
            </a:r>
            <a:r>
              <a:rPr lang="en-US" sz="2400" dirty="0" smtClean="0">
                <a:sym typeface="Wingdings"/>
              </a:rPr>
              <a:t> Scope : </a:t>
            </a:r>
            <a:r>
              <a:rPr lang="en-US" sz="2400" dirty="0"/>
              <a:t>Scope informs us </a:t>
            </a:r>
            <a:r>
              <a:rPr lang="en-US" sz="2400" dirty="0" smtClean="0"/>
              <a:t>which variables </a:t>
            </a:r>
            <a:r>
              <a:rPr lang="en-US" sz="2400" dirty="0"/>
              <a:t>are accessible </a:t>
            </a:r>
            <a:endParaRPr lang="en-US" sz="2400" dirty="0" smtClean="0"/>
          </a:p>
          <a:p>
            <a:r>
              <a:rPr lang="en-US" sz="2400" dirty="0" smtClean="0"/>
              <a:t>from </a:t>
            </a:r>
            <a:r>
              <a:rPr lang="en-US" sz="2400" dirty="0"/>
              <a:t>within our programs</a:t>
            </a:r>
          </a:p>
        </p:txBody>
      </p:sp>
    </p:spTree>
    <p:extLst>
      <p:ext uri="{BB962C8B-B14F-4D97-AF65-F5344CB8AC3E}">
        <p14:creationId xmlns:p14="http://schemas.microsoft.com/office/powerpoint/2010/main" val="673186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Exercise Time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</a:t>
            </a:r>
            <a:r>
              <a:rPr lang="en-US" dirty="0" smtClean="0"/>
              <a:t>n </a:t>
            </a:r>
            <a:r>
              <a:rPr lang="en-US" dirty="0" err="1" smtClean="0"/>
              <a:t>codeacademy</a:t>
            </a:r>
            <a:endParaRPr lang="en-US" dirty="0" smtClean="0"/>
          </a:p>
          <a:p>
            <a:r>
              <a:rPr lang="en-US" dirty="0" smtClean="0"/>
              <a:t>Functions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080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Global scope </a:t>
            </a:r>
            <a:endParaRPr lang="en-US"/>
          </a:p>
        </p:txBody>
      </p:sp>
      <p:pic>
        <p:nvPicPr>
          <p:cNvPr id="4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66" t="28967" r="73070" b="27836"/>
          <a:stretch/>
        </p:blipFill>
        <p:spPr>
          <a:xfrm>
            <a:off x="838200" y="1370731"/>
            <a:ext cx="4855234" cy="5030069"/>
          </a:xfrm>
        </p:spPr>
      </p:pic>
      <p:cxnSp>
        <p:nvCxnSpPr>
          <p:cNvPr id="5" name="Straight Arrow Connector 4"/>
          <p:cNvCxnSpPr/>
          <p:nvPr/>
        </p:nvCxnSpPr>
        <p:spPr>
          <a:xfrm flipH="1">
            <a:off x="5784965" y="1789000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 flipH="1">
            <a:off x="7029565" y="1604334"/>
            <a:ext cx="47696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is a global variable. They are declared outside functions and can be called from anywhere in your code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435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9" t="29983" r="65067" b="48820"/>
          <a:stretch/>
        </p:blipFill>
        <p:spPr>
          <a:xfrm>
            <a:off x="527812" y="1604334"/>
            <a:ext cx="6056376" cy="235096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scope </a:t>
            </a:r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5784965" y="1789000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 flipH="1">
            <a:off x="7029565" y="1604334"/>
            <a:ext cx="47696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‘celcius’ is a function variable. They are declared inside a function and can only be called inside the function</a:t>
            </a: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5784965" y="2817955"/>
            <a:ext cx="1143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 flipH="1">
            <a:off x="7029565" y="2633289"/>
            <a:ext cx="47696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This ‘celcius’ is different from the celcius we declare in multiplyByNineFifths function. They have the same names but they are different parameters that belong to different functions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192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scope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function multiplyByNineFifths(inputNumber) 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	</a:t>
            </a:r>
            <a:r>
              <a:rPr lang="en-US" dirty="0" smtClean="0"/>
              <a:t>return inputNumber* (9/5);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}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function getFahrenheit(celcius) {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smtClean="0"/>
              <a:t>	return multiplyByNineFifths(celcius) + 32;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}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console.log('The temperature is ' + getFahrenheit(15) + '°F</a:t>
            </a:r>
            <a:r>
              <a:rPr lang="en-US" dirty="0" smtClean="0"/>
              <a:t>');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smtClean="0"/>
              <a:t>Will this work? What will be the output?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161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scope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function multiplyByNineFifths(inputNumber) {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	</a:t>
            </a:r>
            <a:r>
              <a:rPr lang="en-US" dirty="0" smtClean="0"/>
              <a:t>return inputNumber* (9/5);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}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function getFahrenheit(celcius) {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smtClean="0"/>
              <a:t>	return multiplyByNineFifths(celcius) + 32;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}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var celcius = 15;</a:t>
            </a:r>
            <a:endParaRPr lang="en-US" dirty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console.log('The temperature is ' + </a:t>
            </a:r>
            <a:r>
              <a:rPr lang="en-US" dirty="0" smtClean="0"/>
              <a:t>getFahrenheit(celcius) </a:t>
            </a:r>
            <a:r>
              <a:rPr lang="en-US" dirty="0"/>
              <a:t>+ '°F</a:t>
            </a:r>
            <a:r>
              <a:rPr lang="en-US" dirty="0" smtClean="0"/>
              <a:t>');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smtClean="0"/>
              <a:t>celcius = celcius + 20;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smtClean="0"/>
              <a:t>console.log(</a:t>
            </a:r>
            <a:r>
              <a:rPr lang="en-US" dirty="0"/>
              <a:t>'The </a:t>
            </a:r>
            <a:r>
              <a:rPr lang="en-US" dirty="0" smtClean="0"/>
              <a:t>temperature now </a:t>
            </a:r>
            <a:r>
              <a:rPr lang="en-US" dirty="0"/>
              <a:t>is ' + </a:t>
            </a:r>
            <a:r>
              <a:rPr lang="en-US" dirty="0" smtClean="0"/>
              <a:t>celcius </a:t>
            </a:r>
            <a:r>
              <a:rPr lang="en-US" dirty="0"/>
              <a:t>+ </a:t>
            </a:r>
            <a:r>
              <a:rPr lang="en-US" dirty="0" smtClean="0"/>
              <a:t>'°C');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smtClean="0"/>
              <a:t>Will this work? What will be the output?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834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Exercise Time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</a:t>
            </a:r>
            <a:r>
              <a:rPr lang="en-US" dirty="0" smtClean="0"/>
              <a:t>n </a:t>
            </a:r>
            <a:r>
              <a:rPr lang="en-US" dirty="0" err="1" smtClean="0"/>
              <a:t>codeacademy</a:t>
            </a:r>
            <a:endParaRPr lang="en-US" dirty="0" smtClean="0"/>
          </a:p>
          <a:p>
            <a:r>
              <a:rPr lang="en-US" dirty="0" smtClean="0"/>
              <a:t>Scope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844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list to store data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var </a:t>
            </a:r>
            <a:r>
              <a:rPr lang="en-US" dirty="0"/>
              <a:t>bucketList = ['Rappel into a cave', 'Take a falconry class', 'Learn to juggle'];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7858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Select element from an array</a:t>
            </a:r>
          </a:p>
          <a:p>
            <a:pPr lvl="1"/>
            <a:r>
              <a:rPr lang="en-US" dirty="0" smtClean="0"/>
              <a:t>Each item in the array has a numbered position, starting from 0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var bucketList = ['Rappel into a cave', 'Take a falconry class', 'Learn to juggle']; var listItem = bucketList[0]; 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console.log(listItem);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listItem </a:t>
            </a:r>
            <a:r>
              <a:rPr lang="en-US" dirty="0"/>
              <a:t>= </a:t>
            </a:r>
            <a:r>
              <a:rPr lang="en-US" dirty="0" smtClean="0"/>
              <a:t>bucketList[1];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console.log(listItem</a:t>
            </a:r>
            <a:r>
              <a:rPr lang="en-US" dirty="0" smtClean="0"/>
              <a:t>);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var hello = 'Hello World';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console.log(hello[6</a:t>
            </a:r>
            <a:r>
              <a:rPr lang="en-US" dirty="0"/>
              <a:t>]);</a:t>
            </a:r>
            <a:endParaRPr lang="en-US" dirty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1020776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Length of array (i.e., how many items are inside the array)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var bucketList = ['Rappel into a cave', 'Take a falconry class']; </a:t>
            </a:r>
            <a:r>
              <a:rPr lang="en-US" dirty="0" smtClean="0"/>
              <a:t>console.log(</a:t>
            </a:r>
            <a:r>
              <a:rPr lang="en-US" dirty="0" err="1" smtClean="0"/>
              <a:t>bucketList.length</a:t>
            </a:r>
            <a:r>
              <a:rPr lang="en-US" dirty="0" smtClean="0"/>
              <a:t>);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console.log('Hello </a:t>
            </a:r>
            <a:r>
              <a:rPr lang="en-US" dirty="0" err="1"/>
              <a:t>World'.</a:t>
            </a:r>
            <a:r>
              <a:rPr lang="en-US" dirty="0" err="1" smtClean="0"/>
              <a:t>length</a:t>
            </a:r>
            <a:r>
              <a:rPr lang="en-US" dirty="0" smtClean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874591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Arrays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smtClean="0"/>
              <a:t>Adding items to the list: (added to the end)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smtClean="0"/>
              <a:t>var </a:t>
            </a:r>
            <a:r>
              <a:rPr lang="en-US" dirty="0"/>
              <a:t>bucketList = ['item 0', 'item 1', 'item 2']; </a:t>
            </a:r>
            <a:endParaRPr lang="en-US" dirty="0" smtClean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err="1" smtClean="0"/>
              <a:t>bucketList.push</a:t>
            </a:r>
            <a:r>
              <a:rPr lang="en-US" dirty="0"/>
              <a:t>('item 3', 'item 4</a:t>
            </a:r>
            <a:r>
              <a:rPr lang="en-US" dirty="0" smtClean="0"/>
              <a:t>');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smtClean="0"/>
              <a:t>console.log(bucketList);</a:t>
            </a:r>
            <a:endParaRPr lang="en-US" dirty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 smtClean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smtClean="0"/>
              <a:t>Removing item from the list: (removed from the end)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err="1" smtClean="0"/>
              <a:t>bucketList.pop</a:t>
            </a:r>
            <a:r>
              <a:rPr lang="en-US" dirty="0" smtClean="0"/>
              <a:t>();</a:t>
            </a: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 smtClean="0"/>
              <a:t>console.log(bucketList);</a:t>
            </a:r>
          </a:p>
        </p:txBody>
      </p:sp>
    </p:spTree>
    <p:extLst>
      <p:ext uri="{BB962C8B-B14F-4D97-AF65-F5344CB8AC3E}">
        <p14:creationId xmlns:p14="http://schemas.microsoft.com/office/powerpoint/2010/main" val="11922304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Exercise Time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</a:t>
            </a:r>
            <a:r>
              <a:rPr lang="en-US" dirty="0" smtClean="0"/>
              <a:t>n </a:t>
            </a:r>
            <a:r>
              <a:rPr lang="en-US" dirty="0" err="1" smtClean="0"/>
              <a:t>codeacademy</a:t>
            </a:r>
            <a:endParaRPr lang="en-US" dirty="0" smtClean="0"/>
          </a:p>
          <a:p>
            <a:r>
              <a:rPr lang="en-US" dirty="0" smtClean="0"/>
              <a:t>Scope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312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repeat a task over and over, so we don’t have to write the same code over and over</a:t>
            </a:r>
          </a:p>
          <a:p>
            <a:pPr lvl="1"/>
            <a:r>
              <a:rPr lang="en-US" dirty="0" smtClean="0"/>
              <a:t>for loops : loop a block of code a </a:t>
            </a:r>
            <a:r>
              <a:rPr lang="en-US" b="1" dirty="0" smtClean="0"/>
              <a:t>known</a:t>
            </a:r>
            <a:r>
              <a:rPr lang="en-US" dirty="0" smtClean="0"/>
              <a:t> amount of times</a:t>
            </a:r>
          </a:p>
          <a:p>
            <a:pPr lvl="1"/>
            <a:r>
              <a:rPr lang="en-US" dirty="0" smtClean="0"/>
              <a:t>while loops: loop a block of code an </a:t>
            </a:r>
            <a:r>
              <a:rPr lang="en-US" b="1" dirty="0" smtClean="0"/>
              <a:t>unknown</a:t>
            </a:r>
            <a:r>
              <a:rPr lang="en-US" dirty="0" smtClean="0"/>
              <a:t> amount of times – the looping stops after a condition is reached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052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var animals = ["Grizzly Bear", "Sloth", "Sea Lion"];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for (var </a:t>
            </a:r>
            <a:r>
              <a:rPr lang="en-US" dirty="0" err="1" smtClean="0"/>
              <a:t>i</a:t>
            </a:r>
            <a:r>
              <a:rPr lang="en-US" dirty="0" smtClean="0"/>
              <a:t> = 0; </a:t>
            </a:r>
            <a:r>
              <a:rPr lang="en-US" dirty="0" err="1" smtClean="0"/>
              <a:t>i</a:t>
            </a:r>
            <a:r>
              <a:rPr lang="en-US" dirty="0" smtClean="0"/>
              <a:t> &lt; </a:t>
            </a:r>
            <a:r>
              <a:rPr lang="en-US" dirty="0" err="1" smtClean="0"/>
              <a:t>animals.length</a:t>
            </a:r>
            <a:r>
              <a:rPr lang="en-US" dirty="0" smtClean="0"/>
              <a:t>; </a:t>
            </a:r>
            <a:r>
              <a:rPr lang="en-US" dirty="0" err="1" smtClean="0"/>
              <a:t>i</a:t>
            </a:r>
            <a:r>
              <a:rPr lang="en-US" dirty="0" smtClean="0"/>
              <a:t>++) {  // start counting at 0 and 							// continue looping as long as </a:t>
            </a:r>
            <a:r>
              <a:rPr lang="en-US" dirty="0" err="1" smtClean="0"/>
              <a:t>i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					// is less than </a:t>
            </a:r>
            <a:r>
              <a:rPr lang="en-US" dirty="0" err="1" smtClean="0"/>
              <a:t>animals.length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					// at each loop, add 1 to </a:t>
            </a:r>
            <a:r>
              <a:rPr lang="en-US" dirty="0" err="1" smtClean="0"/>
              <a:t>i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console.log(animals[</a:t>
            </a:r>
            <a:r>
              <a:rPr lang="en-US" dirty="0" err="1" smtClean="0"/>
              <a:t>i</a:t>
            </a:r>
            <a:r>
              <a:rPr lang="en-US" dirty="0" smtClean="0"/>
              <a:t>]); 		// the code that is being run until </a:t>
            </a:r>
            <a:br>
              <a:rPr lang="en-US" dirty="0" smtClean="0"/>
            </a:br>
            <a:r>
              <a:rPr lang="en-US" dirty="0" smtClean="0"/>
              <a:t>						// the loop stops</a:t>
            </a:r>
            <a:br>
              <a:rPr lang="en-US" dirty="0" smtClean="0"/>
            </a:br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884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Backward loops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/>
              <a:t>for (var </a:t>
            </a:r>
            <a:r>
              <a:rPr lang="en-US" dirty="0" err="1"/>
              <a:t>i</a:t>
            </a:r>
            <a:r>
              <a:rPr lang="en-US" dirty="0"/>
              <a:t> = </a:t>
            </a:r>
            <a:r>
              <a:rPr lang="en-US" dirty="0" smtClean="0"/>
              <a:t>animals.length-1; </a:t>
            </a:r>
            <a:r>
              <a:rPr lang="en-US" dirty="0" err="1" smtClean="0"/>
              <a:t>i</a:t>
            </a:r>
            <a:r>
              <a:rPr lang="en-US" dirty="0" smtClean="0"/>
              <a:t>&gt;=0; </a:t>
            </a:r>
            <a:r>
              <a:rPr lang="en-US" dirty="0" err="1" smtClean="0"/>
              <a:t>i</a:t>
            </a:r>
            <a:r>
              <a:rPr lang="en-US" dirty="0" smtClean="0"/>
              <a:t>--) </a:t>
            </a:r>
            <a:r>
              <a:rPr lang="en-US" dirty="0"/>
              <a:t>{  // start counting </a:t>
            </a:r>
            <a:r>
              <a:rPr lang="en-US" dirty="0" smtClean="0"/>
              <a:t>at the last item </a:t>
            </a:r>
            <a:r>
              <a:rPr lang="en-US" dirty="0"/>
              <a:t>						</a:t>
            </a:r>
            <a:r>
              <a:rPr lang="en-US" dirty="0" smtClean="0"/>
              <a:t>// in the array, continue </a:t>
            </a:r>
            <a:r>
              <a:rPr lang="en-US" dirty="0"/>
              <a:t>looping </a:t>
            </a:r>
            <a:br>
              <a:rPr lang="en-US" dirty="0"/>
            </a:br>
            <a:r>
              <a:rPr lang="en-US" dirty="0"/>
              <a:t>						// </a:t>
            </a:r>
            <a:r>
              <a:rPr lang="en-US" dirty="0" smtClean="0"/>
              <a:t>as long as </a:t>
            </a:r>
            <a:r>
              <a:rPr lang="en-US" dirty="0" err="1" smtClean="0"/>
              <a:t>i</a:t>
            </a:r>
            <a:r>
              <a:rPr lang="en-US" dirty="0" smtClean="0"/>
              <a:t> &gt;= 0</a:t>
            </a:r>
            <a:r>
              <a:rPr lang="en-US" dirty="0"/>
              <a:t>						</a:t>
            </a:r>
            <a:r>
              <a:rPr lang="en-US" dirty="0" smtClean="0"/>
              <a:t>			// </a:t>
            </a:r>
            <a:r>
              <a:rPr lang="en-US" dirty="0"/>
              <a:t>at each loop, </a:t>
            </a:r>
            <a:r>
              <a:rPr lang="en-US" dirty="0" smtClean="0"/>
              <a:t>subtract 1 from </a:t>
            </a:r>
            <a:r>
              <a:rPr lang="en-US" dirty="0" err="1" smtClean="0"/>
              <a:t>i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console.log(animals[</a:t>
            </a:r>
            <a:r>
              <a:rPr lang="en-US" dirty="0" err="1"/>
              <a:t>i</a:t>
            </a:r>
            <a:r>
              <a:rPr lang="en-US" dirty="0"/>
              <a:t>]); 		// the code that is being run until </a:t>
            </a:r>
            <a:br>
              <a:rPr lang="en-US" dirty="0"/>
            </a:br>
            <a:r>
              <a:rPr lang="en-US" dirty="0"/>
              <a:t>						// the loop stops</a:t>
            </a:r>
            <a:br>
              <a:rPr lang="en-US" dirty="0"/>
            </a:br>
            <a:r>
              <a:rPr lang="en-US" dirty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398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if you don’t know how many times you want the loop to run?</a:t>
            </a:r>
          </a:p>
          <a:p>
            <a:pPr lvl="1"/>
            <a:r>
              <a:rPr lang="en-US" dirty="0" smtClean="0"/>
              <a:t>Set a stopping condition and use </a:t>
            </a:r>
            <a:r>
              <a:rPr lang="en-US" b="1" dirty="0" smtClean="0"/>
              <a:t>while</a:t>
            </a:r>
            <a:r>
              <a:rPr lang="en-US" dirty="0" smtClean="0"/>
              <a:t> loop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while (condition) { </a:t>
            </a:r>
            <a:r>
              <a:rPr lang="en-US" dirty="0" smtClean="0"/>
              <a:t> // as long as the condition is true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    // run this code block</a:t>
            </a:r>
            <a:br>
              <a:rPr lang="en-US" dirty="0" smtClean="0"/>
            </a:br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0516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Flip cards in a deck until we get a Spade: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var cards = ['Diamond', 'Spade', 'Heart', 'Club</a:t>
            </a:r>
            <a:r>
              <a:rPr lang="en-US" dirty="0" smtClean="0"/>
              <a:t>'];</a:t>
            </a:r>
            <a:br>
              <a:rPr lang="en-US" dirty="0" smtClean="0"/>
            </a:br>
            <a:r>
              <a:rPr lang="en-US" dirty="0" smtClean="0"/>
              <a:t>var </a:t>
            </a:r>
            <a:r>
              <a:rPr lang="en-US" dirty="0" err="1"/>
              <a:t>currentCard</a:t>
            </a:r>
            <a:r>
              <a:rPr lang="en-US" dirty="0"/>
              <a:t> = 'Heart';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while (</a:t>
            </a:r>
            <a:r>
              <a:rPr lang="en-US" dirty="0" err="1"/>
              <a:t>currentCard</a:t>
            </a:r>
            <a:r>
              <a:rPr lang="en-US" dirty="0"/>
              <a:t> !== 'Spade') { 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console.log(</a:t>
            </a:r>
            <a:r>
              <a:rPr lang="en-US" dirty="0" err="1" smtClean="0"/>
              <a:t>currentCard</a:t>
            </a:r>
            <a:r>
              <a:rPr lang="en-US" dirty="0"/>
              <a:t>);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var </a:t>
            </a:r>
            <a:r>
              <a:rPr lang="en-US" dirty="0" err="1"/>
              <a:t>randomNumber</a:t>
            </a:r>
            <a:r>
              <a:rPr lang="en-US" dirty="0"/>
              <a:t> = </a:t>
            </a:r>
            <a:r>
              <a:rPr lang="en-US" dirty="0" err="1"/>
              <a:t>Math.floor</a:t>
            </a:r>
            <a:r>
              <a:rPr lang="en-US" dirty="0"/>
              <a:t>(</a:t>
            </a:r>
            <a:r>
              <a:rPr lang="en-US" dirty="0" err="1"/>
              <a:t>Math.random</a:t>
            </a:r>
            <a:r>
              <a:rPr lang="en-US" dirty="0"/>
              <a:t>() * 4);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</a:t>
            </a:r>
            <a:r>
              <a:rPr lang="en-US" dirty="0" err="1" smtClean="0"/>
              <a:t>currentCard</a:t>
            </a:r>
            <a:r>
              <a:rPr lang="en-US" dirty="0" smtClean="0"/>
              <a:t> </a:t>
            </a:r>
            <a:r>
              <a:rPr lang="en-US" dirty="0"/>
              <a:t>= cards[</a:t>
            </a:r>
            <a:r>
              <a:rPr lang="en-US" dirty="0" err="1"/>
              <a:t>randomNumber</a:t>
            </a:r>
            <a:r>
              <a:rPr lang="en-US" dirty="0"/>
              <a:t>];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8383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Exercise Time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</a:t>
            </a:r>
            <a:r>
              <a:rPr lang="en-US" dirty="0" smtClean="0"/>
              <a:t>n </a:t>
            </a:r>
            <a:r>
              <a:rPr lang="en-US" dirty="0" err="1" smtClean="0"/>
              <a:t>codeacademy</a:t>
            </a:r>
            <a:endParaRPr lang="en-US" dirty="0" smtClean="0"/>
          </a:p>
          <a:p>
            <a:r>
              <a:rPr lang="en-US" dirty="0" smtClean="0"/>
              <a:t>Scope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732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Putting it all together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now know JavaScript, how do we use it on a website?</a:t>
            </a:r>
          </a:p>
          <a:p>
            <a:pPr lvl="1"/>
            <a:r>
              <a:rPr lang="en-US" dirty="0" smtClean="0"/>
              <a:t>JavaScript can make your website much more interactive and dynamic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195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JavaScript, HTML, and CSS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Link JavaScript to HTML</a:t>
            </a:r>
          </a:p>
          <a:p>
            <a:pPr lvl="1"/>
            <a:r>
              <a:rPr lang="en-US" dirty="0" smtClean="0"/>
              <a:t>On your HTML page, you can ask the browser to run the JavaScript code every time your HTML page loads: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Add this code before the closing &lt;/body&gt; tag on your HTML page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&lt;script </a:t>
            </a:r>
            <a:r>
              <a:rPr lang="en-US" dirty="0" err="1"/>
              <a:t>src</a:t>
            </a:r>
            <a:r>
              <a:rPr lang="en-US" dirty="0"/>
              <a:t>='</a:t>
            </a:r>
            <a:r>
              <a:rPr lang="en-US" dirty="0" err="1"/>
              <a:t>js</a:t>
            </a:r>
            <a:r>
              <a:rPr lang="en-US" dirty="0"/>
              <a:t>/</a:t>
            </a:r>
            <a:r>
              <a:rPr lang="en-US" dirty="0" err="1"/>
              <a:t>main.js</a:t>
            </a:r>
            <a:r>
              <a:rPr lang="en-US" dirty="0"/>
              <a:t>'&gt;&lt;/script&gt;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230618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JavaScript, HTML, and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Select an HTML element within your JavaScript code to interact with: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var header = </a:t>
            </a:r>
            <a:r>
              <a:rPr lang="en-US" dirty="0" err="1"/>
              <a:t>document.getElementsByClassName</a:t>
            </a:r>
            <a:r>
              <a:rPr lang="en-US" dirty="0"/>
              <a:t>('example-class-name</a:t>
            </a:r>
            <a:r>
              <a:rPr lang="en-US" dirty="0" smtClean="0"/>
              <a:t>');</a:t>
            </a:r>
          </a:p>
          <a:p>
            <a:endParaRPr lang="en-US" dirty="0"/>
          </a:p>
          <a:p>
            <a:r>
              <a:rPr lang="en-US" dirty="0" smtClean="0"/>
              <a:t>This will find an element like this in your HMTL code: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&lt;div class='example-class-name'&gt; ... &lt;/div&gt;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6079290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JQuery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 easier way to interact with HTML elements from your JavaScript</a:t>
            </a:r>
          </a:p>
          <a:p>
            <a:pPr lvl="1"/>
            <a:r>
              <a:rPr lang="en-US" dirty="0" smtClean="0"/>
              <a:t>JQuery is a library consisting of JavaScript codes, we can link it from our HTML page like we link any piece of JavaScript code from our HTML page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&lt;script </a:t>
            </a:r>
            <a:r>
              <a:rPr lang="en-US" dirty="0" err="1"/>
              <a:t>src</a:t>
            </a:r>
            <a:r>
              <a:rPr lang="en-US" dirty="0"/>
              <a:t>='https://</a:t>
            </a:r>
            <a:r>
              <a:rPr lang="en-US" dirty="0" err="1"/>
              <a:t>code.jquery.com</a:t>
            </a:r>
            <a:r>
              <a:rPr lang="en-US" dirty="0"/>
              <a:t>/jquery-3.1.0.min.js'&gt;&lt;/script</a:t>
            </a:r>
            <a:r>
              <a:rPr lang="en-US" dirty="0" smtClean="0"/>
              <a:t>&gt;</a:t>
            </a:r>
          </a:p>
          <a:p>
            <a:pPr lvl="1"/>
            <a:endParaRPr lang="en-US" dirty="0"/>
          </a:p>
          <a:p>
            <a:pPr lvl="1"/>
            <a:r>
              <a:rPr lang="en-US" dirty="0" smtClean="0"/>
              <a:t>Library is so nice! We don’t have to code a lot of things by ourselves!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3861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JQuery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Make sure your HTML page is ready (loaded) before you call any function in your JavaScript code: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$(document).ready(main);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024188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JQuery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Instead of calling HTML element from JavaScript code like this: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/>
              <a:t>document.getElementsByClassName</a:t>
            </a:r>
            <a:r>
              <a:rPr lang="en-US" dirty="0"/>
              <a:t>('skillset</a:t>
            </a:r>
            <a:r>
              <a:rPr lang="en-US" dirty="0" smtClean="0"/>
              <a:t>');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We can call it simpler using JQuery: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$('.skillset');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9115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JQuery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627599"/>
          </a:xfrm>
        </p:spPr>
        <p:txBody>
          <a:bodyPr>
            <a:normAutofit/>
          </a:bodyPr>
          <a:lstStyle/>
          <a:p>
            <a:r>
              <a:rPr lang="en-US" dirty="0" smtClean="0"/>
              <a:t>Once you call an HTML element, you can do many things to the element:</a:t>
            </a:r>
          </a:p>
          <a:p>
            <a:pPr lvl="1"/>
            <a:r>
              <a:rPr lang="en-US" dirty="0" smtClean="0"/>
              <a:t>hide them: </a:t>
            </a:r>
            <a:r>
              <a:rPr lang="en-US" dirty="0"/>
              <a:t>$('.my-selector').hide</a:t>
            </a:r>
            <a:r>
              <a:rPr lang="en-US" dirty="0" smtClean="0"/>
              <a:t>();</a:t>
            </a:r>
          </a:p>
          <a:p>
            <a:pPr lvl="1"/>
            <a:r>
              <a:rPr lang="en-US" dirty="0" smtClean="0"/>
              <a:t>show them: </a:t>
            </a:r>
            <a:r>
              <a:rPr lang="en-US" dirty="0"/>
              <a:t>$('.my-selector</a:t>
            </a:r>
            <a:r>
              <a:rPr lang="en-US" dirty="0" smtClean="0"/>
              <a:t>').show();</a:t>
            </a:r>
          </a:p>
          <a:p>
            <a:pPr lvl="1"/>
            <a:r>
              <a:rPr lang="en-US" dirty="0" smtClean="0"/>
              <a:t>reveal hidden element them slowly: $('.my-selector').</a:t>
            </a:r>
            <a:r>
              <a:rPr lang="en-US" dirty="0" err="1"/>
              <a:t>fadeIn</a:t>
            </a:r>
            <a:r>
              <a:rPr lang="en-US" dirty="0"/>
              <a:t>(400</a:t>
            </a:r>
            <a:r>
              <a:rPr lang="en-US" dirty="0" smtClean="0"/>
              <a:t>);</a:t>
            </a:r>
            <a:br>
              <a:rPr lang="en-US" dirty="0" smtClean="0"/>
            </a:br>
            <a:r>
              <a:rPr lang="en-US" dirty="0" smtClean="0"/>
              <a:t>	the fade in will last 400 </a:t>
            </a:r>
            <a:r>
              <a:rPr lang="en-US" dirty="0" err="1" smtClean="0"/>
              <a:t>miliseconds</a:t>
            </a:r>
            <a:r>
              <a:rPr lang="en-US" dirty="0" smtClean="0"/>
              <a:t> (or 0.4 seconds)</a:t>
            </a:r>
          </a:p>
          <a:p>
            <a:pPr lvl="1"/>
            <a:r>
              <a:rPr lang="en-US" dirty="0" smtClean="0"/>
              <a:t>toggle the element: hide/show the element depending on whether the element is shown/hidden: </a:t>
            </a:r>
            <a:r>
              <a:rPr lang="en-US" dirty="0"/>
              <a:t>$('.my-selector</a:t>
            </a:r>
            <a:r>
              <a:rPr lang="en-US" dirty="0" smtClean="0"/>
              <a:t>').toggle();</a:t>
            </a:r>
          </a:p>
          <a:p>
            <a:pPr lvl="1"/>
            <a:r>
              <a:rPr lang="en-US" dirty="0" smtClean="0"/>
              <a:t>run a function when the element is clicked:</a:t>
            </a:r>
            <a:br>
              <a:rPr lang="en-US" dirty="0" smtClean="0"/>
            </a:br>
            <a:r>
              <a:rPr lang="en-US" dirty="0" smtClean="0"/>
              <a:t>$('.my-selector').</a:t>
            </a:r>
            <a:r>
              <a:rPr lang="en-US" dirty="0"/>
              <a:t>on('click', function() {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	// </a:t>
            </a:r>
            <a:r>
              <a:rPr lang="en-US" dirty="0"/>
              <a:t>execute the code here when .example-class is clicked. 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});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7037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JQuery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Once you call an HTML element, you can do many things to the element:</a:t>
            </a:r>
          </a:p>
          <a:p>
            <a:pPr lvl="1"/>
            <a:r>
              <a:rPr lang="en-US" dirty="0"/>
              <a:t>t</a:t>
            </a:r>
            <a:r>
              <a:rPr lang="en-US" dirty="0" smtClean="0"/>
              <a:t>oggle a particular style for the element: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$('.my-selector').</a:t>
            </a:r>
            <a:r>
              <a:rPr lang="en-US" dirty="0"/>
              <a:t>toggleClass('active</a:t>
            </a:r>
            <a:r>
              <a:rPr lang="en-US" dirty="0"/>
              <a:t>')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'active'</a:t>
            </a:r>
            <a:r>
              <a:rPr lang="en-US" dirty="0"/>
              <a:t> is the </a:t>
            </a:r>
            <a:r>
              <a:rPr lang="en-US" dirty="0" smtClean="0"/>
              <a:t>style that </a:t>
            </a:r>
            <a:r>
              <a:rPr lang="en-US" dirty="0"/>
              <a:t>we will toggle on and off. </a:t>
            </a:r>
            <a:r>
              <a:rPr lang="en-US" dirty="0" smtClean="0"/>
              <a:t>This style class may look like this on the CSS: (applied to a button, it will make the button color darker and the text on the button light)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.active { </a:t>
            </a:r>
            <a:r>
              <a:rPr lang="en-US" dirty="0" smtClean="0"/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		background-color</a:t>
            </a:r>
            <a:r>
              <a:rPr lang="en-US" dirty="0"/>
              <a:t>: #333333;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	color</a:t>
            </a:r>
            <a:r>
              <a:rPr lang="en-US" dirty="0"/>
              <a:t>: </a:t>
            </a:r>
            <a:r>
              <a:rPr lang="en-US" dirty="0" err="1"/>
              <a:t>whitesmoke</a:t>
            </a:r>
            <a:r>
              <a:rPr lang="en-US" dirty="0"/>
              <a:t>;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17841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JQuery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Instead of by name, we can refer to a specific element that we click with $this – if there are other elements with the same name as our clicked element, $this will only refer to the element we clicked, not the other elements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$('.my-selector').</a:t>
            </a:r>
            <a:r>
              <a:rPr lang="en-US" dirty="0"/>
              <a:t>on('click', function() {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$(</a:t>
            </a:r>
            <a:r>
              <a:rPr lang="en-US" dirty="0"/>
              <a:t>this).toggleClass('active');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81213581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JQuery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196277"/>
          </a:xfrm>
        </p:spPr>
        <p:txBody>
          <a:bodyPr>
            <a:normAutofit/>
          </a:bodyPr>
          <a:lstStyle/>
          <a:p>
            <a:r>
              <a:rPr lang="en-US" dirty="0" smtClean="0"/>
              <a:t>We can use </a:t>
            </a:r>
            <a:r>
              <a:rPr lang="en-US" b="1" dirty="0" smtClean="0"/>
              <a:t>next() </a:t>
            </a:r>
            <a:r>
              <a:rPr lang="en-US" dirty="0" smtClean="0"/>
              <a:t>to select elements that are next to another element: e.g., in our HTML: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&lt;div class='item-one'&gt; ... &lt;/div&gt;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&lt;</a:t>
            </a:r>
            <a:r>
              <a:rPr lang="en-US" dirty="0"/>
              <a:t>div class='item-two'&gt; ... &lt;/div</a:t>
            </a:r>
            <a:r>
              <a:rPr lang="en-US" dirty="0" smtClean="0"/>
              <a:t>&gt;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If we want to hide </a:t>
            </a:r>
            <a:r>
              <a:rPr lang="en-US" b="1" dirty="0" smtClean="0"/>
              <a:t>item-two</a:t>
            </a:r>
            <a:r>
              <a:rPr lang="en-US" dirty="0" smtClean="0"/>
              <a:t>, we can write:</a:t>
            </a:r>
            <a:br>
              <a:rPr lang="en-US" dirty="0" smtClean="0"/>
            </a:br>
            <a:r>
              <a:rPr lang="en-US" dirty="0" smtClean="0"/>
              <a:t>$('.item-two').hide();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OR 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$('.item-one').next().hide();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3034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JQuery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can also modify the text of an element: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$('.my-selector').text('Hello world</a:t>
            </a:r>
            <a:r>
              <a:rPr lang="en-US" dirty="0" smtClean="0"/>
              <a:t>!');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the text of the element </a:t>
            </a:r>
            <a:r>
              <a:rPr lang="en-US" b="1" dirty="0" smtClean="0"/>
              <a:t>my-selector</a:t>
            </a:r>
            <a:r>
              <a:rPr lang="en-US" dirty="0" smtClean="0"/>
              <a:t> will be changed to 'Hello World!'</a:t>
            </a:r>
          </a:p>
        </p:txBody>
      </p:sp>
    </p:spTree>
    <p:extLst>
      <p:ext uri="{BB962C8B-B14F-4D97-AF65-F5344CB8AC3E}">
        <p14:creationId xmlns:p14="http://schemas.microsoft.com/office/powerpoint/2010/main" val="126692386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JQuery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Instead of toggle an element in and out, we can make the toggling smoother by </a:t>
            </a:r>
            <a:r>
              <a:rPr lang="en-US" i="1" dirty="0" smtClean="0"/>
              <a:t>sliding</a:t>
            </a:r>
            <a:r>
              <a:rPr lang="en-US" dirty="0" smtClean="0"/>
              <a:t> the element into the page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$('.example-class').</a:t>
            </a:r>
            <a:r>
              <a:rPr lang="en-US" dirty="0" err="1"/>
              <a:t>slideToggle</a:t>
            </a:r>
            <a:r>
              <a:rPr lang="en-US" dirty="0"/>
              <a:t>(400</a:t>
            </a:r>
            <a:r>
              <a:rPr lang="en-US" dirty="0" smtClean="0"/>
              <a:t>);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Here, 400 means that the sliding will last for 400 </a:t>
            </a:r>
            <a:r>
              <a:rPr lang="en-US" dirty="0" err="1" smtClean="0"/>
              <a:t>miliseconds</a:t>
            </a:r>
            <a:r>
              <a:rPr lang="en-US" dirty="0" smtClean="0"/>
              <a:t> (0.4 seconds)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851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Exercise Time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</a:t>
            </a:r>
            <a:r>
              <a:rPr lang="en-US" dirty="0" smtClean="0"/>
              <a:t>n </a:t>
            </a:r>
            <a:r>
              <a:rPr lang="en-US" dirty="0" err="1" smtClean="0"/>
              <a:t>codeacademy</a:t>
            </a:r>
            <a:endParaRPr lang="en-US" dirty="0" smtClean="0"/>
          </a:p>
          <a:p>
            <a:r>
              <a:rPr lang="en-US" dirty="0" smtClean="0"/>
              <a:t>Scope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32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1045</TotalTime>
  <Words>1603</Words>
  <Application>Microsoft Macintosh PowerPoint</Application>
  <PresentationFormat>Widescreen</PresentationFormat>
  <Paragraphs>281</Paragraphs>
  <Slides>61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6" baseType="lpstr">
      <vt:lpstr>Calibri</vt:lpstr>
      <vt:lpstr>Calibri Light</vt:lpstr>
      <vt:lpstr>Wingdings</vt:lpstr>
      <vt:lpstr>Arial</vt:lpstr>
      <vt:lpstr>Office Theme</vt:lpstr>
      <vt:lpstr>Coding Class</vt:lpstr>
      <vt:lpstr>Goal</vt:lpstr>
      <vt:lpstr>Sign up to codeacademy</vt:lpstr>
      <vt:lpstr>Ready?</vt:lpstr>
      <vt:lpstr>Intro to Java Script</vt:lpstr>
      <vt:lpstr>Data Types in Java Script</vt:lpstr>
      <vt:lpstr>Print to screen</vt:lpstr>
      <vt:lpstr>Print to screen</vt:lpstr>
      <vt:lpstr>Modulus</vt:lpstr>
      <vt:lpstr>Generate random number</vt:lpstr>
      <vt:lpstr>Round a number to nearest integer </vt:lpstr>
      <vt:lpstr>Comments</vt:lpstr>
      <vt:lpstr>Exercise Time</vt:lpstr>
      <vt:lpstr>Variables</vt:lpstr>
      <vt:lpstr>Change variable value</vt:lpstr>
      <vt:lpstr>Exercise Time</vt:lpstr>
      <vt:lpstr>Control Flow</vt:lpstr>
      <vt:lpstr>If/else</vt:lpstr>
      <vt:lpstr>Comparison Operators</vt:lpstr>
      <vt:lpstr>Comparison Operators</vt:lpstr>
      <vt:lpstr>Adding more conditions (using else if)</vt:lpstr>
      <vt:lpstr>Adding more conditions (using switch)</vt:lpstr>
      <vt:lpstr>Logical Operators</vt:lpstr>
      <vt:lpstr>Logical Operators</vt:lpstr>
      <vt:lpstr>Logical Operators</vt:lpstr>
      <vt:lpstr>Exercise Time</vt:lpstr>
      <vt:lpstr>Functions</vt:lpstr>
      <vt:lpstr>Functions -- example</vt:lpstr>
      <vt:lpstr>Functions can take as input data/variable</vt:lpstr>
      <vt:lpstr>Function can return a result instead of printing to screen</vt:lpstr>
      <vt:lpstr>Functions can call each other </vt:lpstr>
      <vt:lpstr>Exercise Time</vt:lpstr>
      <vt:lpstr>Global scope </vt:lpstr>
      <vt:lpstr>Function scope </vt:lpstr>
      <vt:lpstr>Function scope</vt:lpstr>
      <vt:lpstr>Function scope</vt:lpstr>
      <vt:lpstr>Exercise Time</vt:lpstr>
      <vt:lpstr>Arrays</vt:lpstr>
      <vt:lpstr>Arrays</vt:lpstr>
      <vt:lpstr>Arrays</vt:lpstr>
      <vt:lpstr>Arrays</vt:lpstr>
      <vt:lpstr>Exercise Time</vt:lpstr>
      <vt:lpstr>Loops</vt:lpstr>
      <vt:lpstr>Loops</vt:lpstr>
      <vt:lpstr>Loop</vt:lpstr>
      <vt:lpstr>Loops</vt:lpstr>
      <vt:lpstr>Loops</vt:lpstr>
      <vt:lpstr>Exercise Time</vt:lpstr>
      <vt:lpstr>Putting it all together</vt:lpstr>
      <vt:lpstr>JavaScript, HTML, and CSS</vt:lpstr>
      <vt:lpstr>JavaScript, HTML, and CSS</vt:lpstr>
      <vt:lpstr>JQuery</vt:lpstr>
      <vt:lpstr>JQuery</vt:lpstr>
      <vt:lpstr>JQuery</vt:lpstr>
      <vt:lpstr>JQuery</vt:lpstr>
      <vt:lpstr>JQuery</vt:lpstr>
      <vt:lpstr>JQuery</vt:lpstr>
      <vt:lpstr>JQuery</vt:lpstr>
      <vt:lpstr>JQuery</vt:lpstr>
      <vt:lpstr>JQuery</vt:lpstr>
      <vt:lpstr>Exercise Time</vt:lpstr>
    </vt:vector>
  </TitlesOfParts>
  <Company/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Script</dc:title>
  <dc:creator>Wijaya, Derry</dc:creator>
  <cp:lastModifiedBy>Wijaya, Derry</cp:lastModifiedBy>
  <cp:revision>36</cp:revision>
  <dcterms:created xsi:type="dcterms:W3CDTF">2017-10-06T15:15:08Z</dcterms:created>
  <dcterms:modified xsi:type="dcterms:W3CDTF">2017-11-11T19:11:51Z</dcterms:modified>
</cp:coreProperties>
</file>