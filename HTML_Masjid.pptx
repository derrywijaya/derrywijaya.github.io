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1" r:id="rId21"/>
    <p:sldId id="277" r:id="rId22"/>
    <p:sldId id="278" r:id="rId23"/>
    <p:sldId id="279" r:id="rId24"/>
    <p:sldId id="280" r:id="rId25"/>
    <p:sldId id="282" r:id="rId26"/>
    <p:sldId id="286" r:id="rId27"/>
    <p:sldId id="285" r:id="rId28"/>
    <p:sldId id="284" r:id="rId29"/>
    <p:sldId id="287" r:id="rId30"/>
    <p:sldId id="289" r:id="rId31"/>
    <p:sldId id="292" r:id="rId32"/>
    <p:sldId id="288" r:id="rId33"/>
    <p:sldId id="290" r:id="rId34"/>
    <p:sldId id="283" r:id="rId35"/>
    <p:sldId id="276" r:id="rId36"/>
    <p:sldId id="27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16"/>
  </p:normalViewPr>
  <p:slideViewPr>
    <p:cSldViewPr snapToGrid="0">
      <p:cViewPr varScale="1">
        <p:scale>
          <a:sx n="107" d="100"/>
          <a:sy n="107" d="100"/>
        </p:scale>
        <p:origin x="2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6DD4-0657-40E2-BD6C-C5298FA750A5}" type="datetimeFigureOut">
              <a:rPr lang="en-US" smtClean="0"/>
              <a:t>9/23/17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EC93-6629-422F-AA30-8CB2AF82E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7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6DD4-0657-40E2-BD6C-C5298FA750A5}" type="datetimeFigureOut">
              <a:rPr lang="en-US" smtClean="0"/>
              <a:t>9/23/17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EC93-6629-422F-AA30-8CB2AF82E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1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6DD4-0657-40E2-BD6C-C5298FA750A5}" type="datetimeFigureOut">
              <a:rPr lang="en-US" smtClean="0"/>
              <a:t>9/23/17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EC93-6629-422F-AA30-8CB2AF82E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7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6DD4-0657-40E2-BD6C-C5298FA750A5}" type="datetimeFigureOut">
              <a:rPr lang="en-US" smtClean="0"/>
              <a:t>9/23/17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EC93-6629-422F-AA30-8CB2AF82E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7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6DD4-0657-40E2-BD6C-C5298FA750A5}" type="datetimeFigureOut">
              <a:rPr lang="en-US" smtClean="0"/>
              <a:t>9/23/17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EC93-6629-422F-AA30-8CB2AF82E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91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6DD4-0657-40E2-BD6C-C5298FA750A5}" type="datetimeFigureOut">
              <a:rPr lang="en-US" smtClean="0"/>
              <a:t>9/23/17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EC93-6629-422F-AA30-8CB2AF82E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6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6DD4-0657-40E2-BD6C-C5298FA750A5}" type="datetimeFigureOut">
              <a:rPr lang="en-US" smtClean="0"/>
              <a:t>9/23/17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EC93-6629-422F-AA30-8CB2AF82E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81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6DD4-0657-40E2-BD6C-C5298FA750A5}" type="datetimeFigureOut">
              <a:rPr lang="en-US" smtClean="0"/>
              <a:t>9/23/17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EC93-6629-422F-AA30-8CB2AF82E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89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6DD4-0657-40E2-BD6C-C5298FA750A5}" type="datetimeFigureOut">
              <a:rPr lang="en-US" smtClean="0"/>
              <a:t>9/23/17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EC93-6629-422F-AA30-8CB2AF82E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745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6DD4-0657-40E2-BD6C-C5298FA750A5}" type="datetimeFigureOut">
              <a:rPr lang="en-US" smtClean="0"/>
              <a:t>9/23/17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EC93-6629-422F-AA30-8CB2AF82E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92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6DD4-0657-40E2-BD6C-C5298FA750A5}" type="datetimeFigureOut">
              <a:rPr lang="en-US" smtClean="0"/>
              <a:t>9/23/17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EC93-6629-422F-AA30-8CB2AF82E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1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76DD4-0657-40E2-BD6C-C5298FA750A5}" type="datetimeFigureOut">
              <a:rPr lang="en-US" smtClean="0"/>
              <a:t>9/23/17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CEC93-6629-422F-AA30-8CB2AF82E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53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HyperText</a:t>
            </a:r>
            <a:r>
              <a:rPr lang="en-US" dirty="0"/>
              <a:t> Markup Language</a:t>
            </a:r>
          </a:p>
        </p:txBody>
      </p:sp>
    </p:spTree>
    <p:extLst>
      <p:ext uri="{BB962C8B-B14F-4D97-AF65-F5344CB8AC3E}">
        <p14:creationId xmlns:p14="http://schemas.microsoft.com/office/powerpoint/2010/main" val="46779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iagram of client-server transaction in internet browsing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" r="9780" b="3"/>
          <a:stretch/>
        </p:blipFill>
        <p:spPr bwMode="auto">
          <a:xfrm>
            <a:off x="5120640" y="1904281"/>
            <a:ext cx="6233160" cy="427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Internet </a:t>
            </a:r>
          </a:p>
        </p:txBody>
      </p:sp>
      <p:sp>
        <p:nvSpPr>
          <p:cNvPr id="1031" name="Content Placeholder 1030"/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>
            <a:normAutofit/>
          </a:bodyPr>
          <a:lstStyle/>
          <a:p>
            <a:r>
              <a:rPr lang="en-US" sz="2000" dirty="0"/>
              <a:t>Client browser (Chrome, IE) sends request to server</a:t>
            </a:r>
          </a:p>
          <a:p>
            <a:r>
              <a:rPr lang="en-US" sz="2000" dirty="0"/>
              <a:t>Server returns response to client </a:t>
            </a:r>
          </a:p>
          <a:p>
            <a:r>
              <a:rPr lang="en-US" sz="2000" dirty="0"/>
              <a:t>Browser displays the response in IE or Chrome</a:t>
            </a:r>
          </a:p>
          <a:p>
            <a:r>
              <a:rPr lang="en-US" sz="2000" dirty="0"/>
              <a:t> HTML is the language that define on how the response will be displayed on browser</a:t>
            </a:r>
          </a:p>
        </p:txBody>
      </p:sp>
    </p:spTree>
    <p:extLst>
      <p:ext uri="{BB962C8B-B14F-4D97-AF65-F5344CB8AC3E}">
        <p14:creationId xmlns:p14="http://schemas.microsoft.com/office/powerpoint/2010/main" val="409183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responses look on browser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6254"/>
            <a:ext cx="4830309" cy="30213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412" y="1956254"/>
            <a:ext cx="5002388" cy="302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851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HTML documents are simply text documents with a specific form</a:t>
            </a:r>
          </a:p>
          <a:p>
            <a:r>
              <a:rPr lang="en-US" altLang="en-US" dirty="0"/>
              <a:t>Documents comprised of </a:t>
            </a:r>
            <a:r>
              <a:rPr lang="en-US" altLang="en-US" b="1" dirty="0"/>
              <a:t>content</a:t>
            </a:r>
            <a:r>
              <a:rPr lang="en-US" altLang="en-US" dirty="0"/>
              <a:t> and </a:t>
            </a:r>
            <a:r>
              <a:rPr lang="en-US" altLang="en-US" b="1" dirty="0"/>
              <a:t>markup tags</a:t>
            </a:r>
          </a:p>
          <a:p>
            <a:r>
              <a:rPr lang="en-US" altLang="en-US" dirty="0"/>
              <a:t>Content: actual information being conveyed</a:t>
            </a:r>
          </a:p>
          <a:p>
            <a:r>
              <a:rPr lang="en-US" altLang="en-US" dirty="0"/>
              <a:t>The markup tags tell the Web browser </a:t>
            </a:r>
            <a:r>
              <a:rPr lang="en-US" altLang="en-US" b="1" dirty="0"/>
              <a:t>how to display</a:t>
            </a:r>
            <a:r>
              <a:rPr lang="en-US" altLang="en-US" dirty="0"/>
              <a:t> the page</a:t>
            </a:r>
          </a:p>
          <a:p>
            <a:r>
              <a:rPr lang="en-US" altLang="en-US" dirty="0"/>
              <a:t>An HTML file must have an </a:t>
            </a:r>
            <a:r>
              <a:rPr lang="en-US" altLang="en-US" b="1" dirty="0" err="1"/>
              <a:t>htm</a:t>
            </a:r>
            <a:r>
              <a:rPr lang="en-US" altLang="en-US" dirty="0"/>
              <a:t> or </a:t>
            </a:r>
            <a:r>
              <a:rPr lang="en-US" altLang="en-US" b="1" dirty="0"/>
              <a:t>html</a:t>
            </a:r>
            <a:r>
              <a:rPr lang="en-US" altLang="en-US" dirty="0"/>
              <a:t> file extension</a:t>
            </a:r>
          </a:p>
          <a:p>
            <a:r>
              <a:rPr lang="en-US" altLang="en-US" dirty="0"/>
              <a:t>An HTML file can be created using a </a:t>
            </a:r>
            <a:r>
              <a:rPr lang="en-US" altLang="en-US" b="1" dirty="0"/>
              <a:t>simple text editor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40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first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 are running Windows, start Notepad</a:t>
            </a:r>
          </a:p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 are on a Mac, start SimpleText</a:t>
            </a:r>
          </a:p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Type in the following:</a:t>
            </a:r>
          </a:p>
          <a:p>
            <a:pPr marL="2743200" lvl="6" indent="0">
              <a:buNone/>
              <a:defRPr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!DOCTYPE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html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html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head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title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Page Title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/title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/head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h1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This is a Heading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/h1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This is a paragraph.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/body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/html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28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first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Save as index.html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641" y="2335857"/>
            <a:ext cx="9004041" cy="374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1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521" r="-1" b="-1"/>
          <a:stretch/>
        </p:blipFill>
        <p:spPr>
          <a:xfrm>
            <a:off x="6090613" y="640082"/>
            <a:ext cx="5461724" cy="5577837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dirty="0"/>
              <a:t>Our first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r>
              <a:rPr lang="en-US" altLang="en-US"/>
              <a:t>Open in browser (double click)</a:t>
            </a:r>
          </a:p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697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521" r="-1" b="-1"/>
          <a:stretch/>
        </p:blipFill>
        <p:spPr>
          <a:xfrm>
            <a:off x="6090613" y="640082"/>
            <a:ext cx="5461724" cy="5577837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dirty="0"/>
              <a:t>Our first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!DOCTYPE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html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html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head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title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Page Title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/title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/head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h1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This is a Heading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/h1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This is a paragraph.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/body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/html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alt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altLang="en-US" dirty="0"/>
          </a:p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en-US" altLang="en-US" dirty="0"/>
          </a:p>
        </p:txBody>
      </p:sp>
      <p:sp>
        <p:nvSpPr>
          <p:cNvPr id="4" name="Arrow: Right 3"/>
          <p:cNvSpPr/>
          <p:nvPr/>
        </p:nvSpPr>
        <p:spPr>
          <a:xfrm rot="16200000" flipH="1">
            <a:off x="4270740" y="2137775"/>
            <a:ext cx="1090792" cy="8812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Tag</a:t>
            </a:r>
          </a:p>
        </p:txBody>
      </p:sp>
      <p:sp>
        <p:nvSpPr>
          <p:cNvPr id="6" name="Arrow: Right 5"/>
          <p:cNvSpPr/>
          <p:nvPr/>
        </p:nvSpPr>
        <p:spPr>
          <a:xfrm flipH="1">
            <a:off x="2121652" y="5086641"/>
            <a:ext cx="1090792" cy="8812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Tag</a:t>
            </a:r>
          </a:p>
        </p:txBody>
      </p:sp>
    </p:spTree>
    <p:extLst>
      <p:ext uri="{BB962C8B-B14F-4D97-AF65-F5344CB8AC3E}">
        <p14:creationId xmlns:p14="http://schemas.microsoft.com/office/powerpoint/2010/main" val="328216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dirty="0"/>
              <a:t>Our first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!DOCTYPE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html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html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head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title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Page Title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/title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/head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h1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This is a Heading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/h1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This is a paragraph.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/body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/html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alt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altLang="en-US" dirty="0"/>
          </a:p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en-US" altLang="en-US" dirty="0"/>
          </a:p>
        </p:txBody>
      </p:sp>
      <p:sp>
        <p:nvSpPr>
          <p:cNvPr id="4" name="Arrow: Right 3"/>
          <p:cNvSpPr/>
          <p:nvPr/>
        </p:nvSpPr>
        <p:spPr>
          <a:xfrm rot="16200000" flipH="1">
            <a:off x="4270740" y="2137775"/>
            <a:ext cx="1090792" cy="8812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Tag</a:t>
            </a:r>
          </a:p>
        </p:txBody>
      </p:sp>
      <p:sp>
        <p:nvSpPr>
          <p:cNvPr id="6" name="Arrow: Right 5"/>
          <p:cNvSpPr/>
          <p:nvPr/>
        </p:nvSpPr>
        <p:spPr>
          <a:xfrm flipH="1">
            <a:off x="2121652" y="5086641"/>
            <a:ext cx="1090792" cy="8812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Tag</a:t>
            </a:r>
          </a:p>
        </p:txBody>
      </p:sp>
      <p:sp>
        <p:nvSpPr>
          <p:cNvPr id="7" name="Rectangle 6"/>
          <p:cNvSpPr/>
          <p:nvPr/>
        </p:nvSpPr>
        <p:spPr>
          <a:xfrm>
            <a:off x="5862221" y="2145217"/>
            <a:ext cx="551007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dirty="0"/>
              <a:t>HTML tags are used to mark-up HTML elements</a:t>
            </a:r>
          </a:p>
          <a:p>
            <a:pPr lvl="1"/>
            <a:r>
              <a:rPr lang="en-US" altLang="en-US" sz="2400" dirty="0"/>
              <a:t>Surrounded by angle brackets </a:t>
            </a:r>
            <a:r>
              <a:rPr lang="en-US" altLang="en-US" sz="2400" b="1" dirty="0">
                <a:solidFill>
                  <a:schemeClr val="accent2"/>
                </a:solidFill>
              </a:rPr>
              <a:t>&lt;</a:t>
            </a:r>
            <a:r>
              <a:rPr lang="en-US" altLang="en-US" sz="2400" dirty="0"/>
              <a:t> and </a:t>
            </a:r>
            <a:r>
              <a:rPr lang="en-US" altLang="en-US" sz="2400" b="1" dirty="0">
                <a:solidFill>
                  <a:schemeClr val="accent2"/>
                </a:solidFill>
              </a:rPr>
              <a:t>&gt;</a:t>
            </a:r>
          </a:p>
          <a:p>
            <a:pPr lvl="1"/>
            <a:r>
              <a:rPr lang="en-US" altLang="en-US" sz="2400" dirty="0"/>
              <a:t>HTML tags normally come in pairs, like </a:t>
            </a:r>
            <a:r>
              <a:rPr lang="en-US" altLang="en-US" sz="2400" dirty="0">
                <a:solidFill>
                  <a:schemeClr val="accent2"/>
                </a:solidFill>
              </a:rPr>
              <a:t>&lt;</a:t>
            </a:r>
            <a:r>
              <a:rPr lang="en-US" altLang="en-US" sz="2400" dirty="0" err="1">
                <a:solidFill>
                  <a:schemeClr val="accent2"/>
                </a:solidFill>
              </a:rPr>
              <a:t>tagname</a:t>
            </a:r>
            <a:r>
              <a:rPr lang="en-US" altLang="en-US" sz="2400" dirty="0">
                <a:solidFill>
                  <a:schemeClr val="accent2"/>
                </a:solidFill>
              </a:rPr>
              <a:t>&gt;</a:t>
            </a:r>
            <a:r>
              <a:rPr lang="en-US" altLang="en-US" sz="2400" dirty="0"/>
              <a:t> (start tag) and </a:t>
            </a:r>
            <a:r>
              <a:rPr lang="en-US" altLang="en-US" sz="2400" dirty="0">
                <a:solidFill>
                  <a:schemeClr val="accent2"/>
                </a:solidFill>
              </a:rPr>
              <a:t>&lt;/</a:t>
            </a:r>
            <a:r>
              <a:rPr lang="en-US" altLang="en-US" sz="2400" dirty="0" err="1">
                <a:solidFill>
                  <a:schemeClr val="accent2"/>
                </a:solidFill>
              </a:rPr>
              <a:t>tagname</a:t>
            </a:r>
            <a:r>
              <a:rPr lang="en-US" altLang="en-US" sz="2400" dirty="0">
                <a:solidFill>
                  <a:schemeClr val="accent2"/>
                </a:solidFill>
              </a:rPr>
              <a:t>&gt;</a:t>
            </a:r>
            <a:r>
              <a:rPr lang="en-US" altLang="en-US" sz="2400" dirty="0"/>
              <a:t> (end tag)</a:t>
            </a:r>
          </a:p>
          <a:p>
            <a:pPr lvl="1"/>
            <a:r>
              <a:rPr lang="en-US" altLang="en-US" sz="2400" dirty="0"/>
              <a:t>The text between the start and end tags is the element content</a:t>
            </a:r>
          </a:p>
          <a:p>
            <a:pPr lvl="1"/>
            <a:r>
              <a:rPr lang="en-US" altLang="en-US" sz="2400" dirty="0"/>
              <a:t>Not case-sensitive</a:t>
            </a:r>
          </a:p>
          <a:p>
            <a:pPr lvl="1"/>
            <a:r>
              <a:rPr lang="en-US" altLang="en-US" sz="2400" dirty="0"/>
              <a:t>Follow the latest web standards: Use lowercase tags</a:t>
            </a:r>
          </a:p>
        </p:txBody>
      </p:sp>
    </p:spTree>
    <p:extLst>
      <p:ext uri="{BB962C8B-B14F-4D97-AF65-F5344CB8AC3E}">
        <p14:creationId xmlns:p14="http://schemas.microsoft.com/office/powerpoint/2010/main" val="357872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dirty="0"/>
              <a:t>Our first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!DOCTYPE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html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html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head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title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Page Title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/title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/head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h1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This is a Heading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/h1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This is a paragraph.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/p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/body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</a:rPr>
              <a:t/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/html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alt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altLang="en-US" dirty="0"/>
          </a:p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en-US" altLang="en-US" dirty="0"/>
          </a:p>
        </p:txBody>
      </p:sp>
      <p:sp>
        <p:nvSpPr>
          <p:cNvPr id="4" name="Arrow: Right 3"/>
          <p:cNvSpPr/>
          <p:nvPr/>
        </p:nvSpPr>
        <p:spPr>
          <a:xfrm rot="16200000" flipH="1">
            <a:off x="4270740" y="2137775"/>
            <a:ext cx="1090792" cy="8812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Tag</a:t>
            </a:r>
          </a:p>
        </p:txBody>
      </p:sp>
      <p:sp>
        <p:nvSpPr>
          <p:cNvPr id="6" name="Arrow: Right 5"/>
          <p:cNvSpPr/>
          <p:nvPr/>
        </p:nvSpPr>
        <p:spPr>
          <a:xfrm flipH="1">
            <a:off x="2121652" y="5086641"/>
            <a:ext cx="1090792" cy="8812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Tag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6509" y="1699504"/>
            <a:ext cx="531476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dirty="0"/>
              <a:t>The 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!DOCTYPE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 html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&gt; </a:t>
            </a:r>
            <a:r>
              <a:rPr lang="en-US" altLang="en-US" sz="2400" dirty="0"/>
              <a:t>declaration defines this document to be HTML5</a:t>
            </a:r>
          </a:p>
          <a:p>
            <a:r>
              <a:rPr lang="en-US" altLang="en-US" sz="2400" dirty="0"/>
              <a:t>The 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html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&gt; </a:t>
            </a:r>
            <a:r>
              <a:rPr lang="en-US" altLang="en-US" sz="2400" dirty="0"/>
              <a:t>element is the root element of an HTML page</a:t>
            </a:r>
          </a:p>
          <a:p>
            <a:r>
              <a:rPr lang="en-US" altLang="en-US" sz="2400" dirty="0"/>
              <a:t>The 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head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&gt; </a:t>
            </a:r>
            <a:r>
              <a:rPr lang="en-US" altLang="en-US" sz="2400" dirty="0"/>
              <a:t>element contains meta information about the document</a:t>
            </a:r>
          </a:p>
          <a:p>
            <a:r>
              <a:rPr lang="en-US" altLang="en-US" sz="2400" dirty="0"/>
              <a:t>The 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title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&gt; </a:t>
            </a:r>
            <a:r>
              <a:rPr lang="en-US" altLang="en-US" sz="2400" dirty="0"/>
              <a:t>element specifies a title for the document</a:t>
            </a:r>
          </a:p>
          <a:p>
            <a:r>
              <a:rPr lang="en-US" altLang="en-US" sz="2400" dirty="0"/>
              <a:t>The 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body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&gt; </a:t>
            </a:r>
            <a:r>
              <a:rPr lang="en-US" altLang="en-US" sz="2400" dirty="0"/>
              <a:t>element contains the visible page content</a:t>
            </a:r>
          </a:p>
          <a:p>
            <a:r>
              <a:rPr lang="en-US" altLang="en-US" sz="2400" dirty="0"/>
              <a:t>The 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h1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&gt; </a:t>
            </a:r>
            <a:r>
              <a:rPr lang="en-US" altLang="en-US" sz="2400" dirty="0"/>
              <a:t>element defines a large heading</a:t>
            </a:r>
          </a:p>
          <a:p>
            <a:r>
              <a:rPr lang="en-US" altLang="en-US" sz="2400" dirty="0"/>
              <a:t>The 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&gt; </a:t>
            </a:r>
            <a:r>
              <a:rPr lang="en-US" altLang="en-US" sz="2400" dirty="0"/>
              <a:t>element defines a paragraph</a:t>
            </a:r>
          </a:p>
        </p:txBody>
      </p:sp>
    </p:spTree>
    <p:extLst>
      <p:ext uri="{BB962C8B-B14F-4D97-AF65-F5344CB8AC3E}">
        <p14:creationId xmlns:p14="http://schemas.microsoft.com/office/powerpoint/2010/main" val="176345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HTML Page Structure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9509" y="1825625"/>
            <a:ext cx="1041298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81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Text Format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7788" y="1970088"/>
            <a:ext cx="4637314" cy="4219575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913984" y="2089150"/>
            <a:ext cx="3694922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69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Style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96752"/>
            <a:ext cx="10515600" cy="21273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4430196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Use the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style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attribute for styling HTML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Use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background-color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for background color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Use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color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for text colors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Use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font-family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for text fonts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Use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font-size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for text sizes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Use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text-align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for text alignment</a:t>
            </a:r>
          </a:p>
        </p:txBody>
      </p:sp>
    </p:spTree>
    <p:extLst>
      <p:ext uri="{BB962C8B-B14F-4D97-AF65-F5344CB8AC3E}">
        <p14:creationId xmlns:p14="http://schemas.microsoft.com/office/powerpoint/2010/main" val="370530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Link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80350"/>
            <a:ext cx="10820279" cy="21879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9422" y="4185367"/>
            <a:ext cx="41776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i="1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link text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12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5315" y="3027848"/>
            <a:ext cx="5626484" cy="11721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054" y="1328876"/>
            <a:ext cx="4610100" cy="4326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5315" y="4355693"/>
            <a:ext cx="576234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1" dirty="0">
                <a:effectLst/>
                <a:latin typeface="Verdana" panose="020B0604030504040204" pitchFamily="34" charset="0"/>
              </a:rPr>
              <a:t>The alt attribute provides an alternate text for an image, if the user for some reason cannot view it (because of slow connection, an error in the </a:t>
            </a:r>
            <a:r>
              <a:rPr lang="en-US" b="0" i="1" dirty="0" err="1">
                <a:effectLst/>
                <a:latin typeface="Verdana" panose="020B0604030504040204" pitchFamily="34" charset="0"/>
              </a:rPr>
              <a:t>src</a:t>
            </a:r>
            <a:r>
              <a:rPr lang="en-US" b="0" i="1" dirty="0">
                <a:effectLst/>
                <a:latin typeface="Verdana" panose="020B0604030504040204" pitchFamily="34" charset="0"/>
              </a:rPr>
              <a:t> attribute, or if the user uses a screen reader).</a:t>
            </a:r>
            <a:endParaRPr lang="en-US" i="1" dirty="0"/>
          </a:p>
        </p:txBody>
      </p:sp>
      <p:sp>
        <p:nvSpPr>
          <p:cNvPr id="7" name="Rectangle 6"/>
          <p:cNvSpPr/>
          <p:nvPr/>
        </p:nvSpPr>
        <p:spPr>
          <a:xfrm>
            <a:off x="911180" y="1680127"/>
            <a:ext cx="56264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i="1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alt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i="1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some_text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width:</a:t>
            </a:r>
            <a:r>
              <a:rPr lang="en-US" b="0" i="1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;height:</a:t>
            </a:r>
            <a:r>
              <a:rPr lang="en-US" b="0" i="1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;"&gt;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465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195439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="width:100%"&gt;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Jill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Smith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Jackson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94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/table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170" y="1890940"/>
            <a:ext cx="5427630" cy="108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10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with style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81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078" y="1993055"/>
            <a:ext cx="9593424" cy="393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6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45" y="1690688"/>
            <a:ext cx="10133570" cy="408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63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html elements can be place inside &lt;li&gt;&lt;li&gt;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Links inside &lt;li&gt;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710" y="2621825"/>
            <a:ext cx="10365873" cy="320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7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&lt;div&gt;&lt;/div&gt; is block tag</a:t>
            </a:r>
          </a:p>
          <a:p>
            <a:r>
              <a:rPr lang="en-US" dirty="0"/>
              <a:t>We can define the style of a block. Everything inside the block will follow the style of the block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div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 style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="background-color:black;color:white;padding:20px;"&gt;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h2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London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/h2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London is the capital city of England. It is the most populous city in the United Kingdom, with a metropolitan area of over 13 million inhabitants.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/p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/div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971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1162" y="1966597"/>
            <a:ext cx="882967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2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Block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If we change the block background color to green and the color to orange it becomes 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355" y="3044031"/>
            <a:ext cx="878205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4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317"/>
          <a:stretch/>
        </p:blipFill>
        <p:spPr>
          <a:xfrm>
            <a:off x="3909528" y="10"/>
            <a:ext cx="8282472" cy="6857990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dirty="0"/>
              <a:t>Assignment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Create this page from scratch</a:t>
            </a:r>
          </a:p>
        </p:txBody>
      </p:sp>
    </p:spTree>
    <p:extLst>
      <p:ext uri="{BB962C8B-B14F-4D97-AF65-F5344CB8AC3E}">
        <p14:creationId xmlns:p14="http://schemas.microsoft.com/office/powerpoint/2010/main" val="205504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46035" b="1"/>
          <a:stretch/>
        </p:blipFill>
        <p:spPr>
          <a:xfrm>
            <a:off x="4639056" y="10"/>
            <a:ext cx="7552944" cy="6857990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629266"/>
            <a:ext cx="3651467" cy="1676603"/>
          </a:xfrm>
        </p:spPr>
        <p:txBody>
          <a:bodyPr>
            <a:normAutofit/>
          </a:bodyPr>
          <a:lstStyle/>
          <a:p>
            <a:r>
              <a:rPr lang="en-US" dirty="0"/>
              <a:t>CSS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931" y="2438400"/>
            <a:ext cx="3651466" cy="3785419"/>
          </a:xfrm>
        </p:spPr>
        <p:txBody>
          <a:bodyPr>
            <a:normAutofit/>
          </a:bodyPr>
          <a:lstStyle/>
          <a:p>
            <a:r>
              <a:rPr lang="en-US" sz="1800"/>
              <a:t>Make the background blue (deepsky)blue</a:t>
            </a:r>
          </a:p>
          <a:p>
            <a:pPr marL="0" indent="0"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540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805" r="7811" b="-2"/>
          <a:stretch/>
        </p:blipFill>
        <p:spPr>
          <a:xfrm>
            <a:off x="4639056" y="10"/>
            <a:ext cx="7552944" cy="6857990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629266"/>
            <a:ext cx="3651467" cy="1676603"/>
          </a:xfrm>
        </p:spPr>
        <p:txBody>
          <a:bodyPr>
            <a:normAutofit/>
          </a:bodyPr>
          <a:lstStyle/>
          <a:p>
            <a:r>
              <a:rPr lang="en-US" dirty="0"/>
              <a:t>CSS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931" y="2438400"/>
            <a:ext cx="3651466" cy="3785419"/>
          </a:xfrm>
        </p:spPr>
        <p:txBody>
          <a:bodyPr>
            <a:normAutofit/>
          </a:bodyPr>
          <a:lstStyle/>
          <a:p>
            <a:r>
              <a:rPr lang="en-US" sz="1800" dirty="0"/>
              <a:t>Make the page center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1440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Making the page center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0656" y="1562469"/>
            <a:ext cx="7141344" cy="5060272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648931" y="2438400"/>
            <a:ext cx="3651466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Set the text alignment of the body to be centered (</a:t>
            </a:r>
            <a:r>
              <a:rPr lang="en-US" sz="1800" dirty="0" err="1"/>
              <a:t>text-align:center</a:t>
            </a:r>
            <a:r>
              <a:rPr lang="en-US" sz="1800" dirty="0"/>
              <a:t>) </a:t>
            </a:r>
          </a:p>
          <a:p>
            <a:r>
              <a:rPr lang="en-US" sz="1800" dirty="0"/>
              <a:t>Add a new block (div) that is the main div that cover all other </a:t>
            </a:r>
            <a:r>
              <a:rPr lang="en-US" sz="1800" dirty="0" err="1"/>
              <a:t>divs</a:t>
            </a:r>
            <a:endParaRPr lang="en-US" sz="1800" dirty="0"/>
          </a:p>
          <a:p>
            <a:r>
              <a:rPr lang="en-US" sz="1800" dirty="0"/>
              <a:t>Set the width of the div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1922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(work on the header)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Combine the links and the header into one block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&lt;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&gt;&lt;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="http://www.google.com"&gt;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Home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it-I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&gt;&lt;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="http://www.indopenn.com"&gt;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Products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it-I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&gt;&lt;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="http://www.yahoo.com"&gt;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Services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it-I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Unyils's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Web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0724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(work on the header)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Combine the links and the header into one block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&lt;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&gt;&lt;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="http://www.google.com"&gt;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Home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it-I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&gt;&lt;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="http://www.indopenn.com"&gt;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Products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it-I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&gt;&lt;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="http://www.yahoo.com"&gt;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Services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it-IT" sz="18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it-I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Unyils's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Web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3909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(work on the header)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style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921px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display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inline"&gt;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style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list-style-type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left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it-IT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400" dirty="0">
                <a:solidFill>
                  <a:srgbClr val="FF0000"/>
                </a:solidFill>
                <a:latin typeface="Consolas" panose="020B0609020204030204" pitchFamily="49" charset="0"/>
              </a:rPr>
              <a:t>style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it-IT" sz="1400" dirty="0">
                <a:solidFill>
                  <a:srgbClr val="FF0000"/>
                </a:solidFill>
                <a:latin typeface="Consolas" panose="020B0609020204030204" pitchFamily="49" charset="0"/>
              </a:rPr>
              <a:t>display</a:t>
            </a:r>
            <a:r>
              <a:rPr lang="it-IT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inline"&gt;&lt;</a:t>
            </a:r>
            <a:r>
              <a:rPr lang="it-IT" sz="1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400" dirty="0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="http://www.google.com"&gt;</a:t>
            </a:r>
            <a:r>
              <a:rPr lang="it-IT" sz="1400" dirty="0">
                <a:solidFill>
                  <a:srgbClr val="000000"/>
                </a:solidFill>
                <a:latin typeface="Consolas" panose="020B0609020204030204" pitchFamily="49" charset="0"/>
              </a:rPr>
              <a:t>Home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it-IT" sz="1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it-IT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it-IT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it-IT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400" dirty="0">
                <a:solidFill>
                  <a:srgbClr val="FF0000"/>
                </a:solidFill>
                <a:latin typeface="Consolas" panose="020B0609020204030204" pitchFamily="49" charset="0"/>
              </a:rPr>
              <a:t>style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it-IT" sz="1400" dirty="0">
                <a:solidFill>
                  <a:srgbClr val="FF0000"/>
                </a:solidFill>
                <a:latin typeface="Consolas" panose="020B0609020204030204" pitchFamily="49" charset="0"/>
              </a:rPr>
              <a:t>display</a:t>
            </a:r>
            <a:r>
              <a:rPr lang="it-IT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inline"&gt;&lt;</a:t>
            </a:r>
            <a:r>
              <a:rPr lang="it-IT" sz="1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400" dirty="0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="http://www.indopenn.com"&gt;</a:t>
            </a:r>
            <a:r>
              <a:rPr lang="it-IT" sz="1400" dirty="0">
                <a:solidFill>
                  <a:srgbClr val="000000"/>
                </a:solidFill>
                <a:latin typeface="Consolas" panose="020B0609020204030204" pitchFamily="49" charset="0"/>
              </a:rPr>
              <a:t>Products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it-IT" sz="1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it-IT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it-IT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it-IT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400" dirty="0">
                <a:solidFill>
                  <a:srgbClr val="FF0000"/>
                </a:solidFill>
                <a:latin typeface="Consolas" panose="020B0609020204030204" pitchFamily="49" charset="0"/>
              </a:rPr>
              <a:t>style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it-IT" sz="1400" dirty="0">
                <a:solidFill>
                  <a:srgbClr val="FF0000"/>
                </a:solidFill>
                <a:latin typeface="Consolas" panose="020B0609020204030204" pitchFamily="49" charset="0"/>
              </a:rPr>
              <a:t>display</a:t>
            </a:r>
            <a:r>
              <a:rPr lang="it-IT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inline"&gt;&lt;</a:t>
            </a:r>
            <a:r>
              <a:rPr lang="it-IT" sz="1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400" dirty="0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="http://www.yahoo.com"&gt;</a:t>
            </a:r>
            <a:r>
              <a:rPr lang="it-IT" sz="1400" dirty="0">
                <a:solidFill>
                  <a:srgbClr val="000000"/>
                </a:solidFill>
                <a:latin typeface="Consolas" panose="020B0609020204030204" pitchFamily="49" charset="0"/>
              </a:rPr>
              <a:t>Services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it-IT" sz="1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it-IT" sz="1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it-IT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style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right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Unyils's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Web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1577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6CF29CD-38B8-4924-BA11-6D60517487E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449" y="812522"/>
            <a:ext cx="10901471" cy="31069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011" y="4502330"/>
            <a:ext cx="10765410" cy="12072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CSS (work on the header). Put them inside a table</a:t>
            </a:r>
          </a:p>
        </p:txBody>
      </p:sp>
    </p:spTree>
    <p:extLst>
      <p:ext uri="{BB962C8B-B14F-4D97-AF65-F5344CB8AC3E}">
        <p14:creationId xmlns:p14="http://schemas.microsoft.com/office/powerpoint/2010/main" val="176058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Line below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     &lt;</a:t>
            </a:r>
            <a:r>
              <a:rPr lang="en-US" dirty="0" err="1"/>
              <a:t>hr</a:t>
            </a:r>
            <a:r>
              <a:rPr lang="en-US" dirty="0"/>
              <a:t> style="border-top: dotted 5px;" /&gt;</a:t>
            </a:r>
          </a:p>
        </p:txBody>
      </p:sp>
    </p:spTree>
    <p:extLst>
      <p:ext uri="{BB962C8B-B14F-4D97-AF65-F5344CB8AC3E}">
        <p14:creationId xmlns:p14="http://schemas.microsoft.com/office/powerpoint/2010/main" val="350972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content in a table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5161" y="1825625"/>
            <a:ext cx="87216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5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3927" y="321178"/>
            <a:ext cx="7422451" cy="6350210"/>
          </a:xfrm>
          <a:prstGeom prst="rect">
            <a:avLst/>
          </a:prstGeom>
        </p:spPr>
      </p:pic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After applying CSS</a:t>
            </a:r>
          </a:p>
        </p:txBody>
      </p:sp>
    </p:spTree>
    <p:extLst>
      <p:ext uri="{BB962C8B-B14F-4D97-AF65-F5344CB8AC3E}">
        <p14:creationId xmlns:p14="http://schemas.microsoft.com/office/powerpoint/2010/main" val="367601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https://www.w3schools.com/html/default.asp</a:t>
            </a:r>
          </a:p>
        </p:txBody>
      </p:sp>
    </p:spTree>
    <p:extLst>
      <p:ext uri="{BB962C8B-B14F-4D97-AF65-F5344CB8AC3E}">
        <p14:creationId xmlns:p14="http://schemas.microsoft.com/office/powerpoint/2010/main" val="62897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566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2945</TotalTime>
  <Words>765</Words>
  <Application>Microsoft Macintosh PowerPoint</Application>
  <PresentationFormat>Widescreen</PresentationFormat>
  <Paragraphs>127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Calibri Light</vt:lpstr>
      <vt:lpstr>Consolas</vt:lpstr>
      <vt:lpstr>Verdana</vt:lpstr>
      <vt:lpstr>Wingdings 3</vt:lpstr>
      <vt:lpstr>Office Theme</vt:lpstr>
      <vt:lpstr>HTML</vt:lpstr>
      <vt:lpstr>Internet </vt:lpstr>
      <vt:lpstr>How responses look on browser</vt:lpstr>
      <vt:lpstr>What is HTML</vt:lpstr>
      <vt:lpstr>Our first HTML</vt:lpstr>
      <vt:lpstr>Our first HTML</vt:lpstr>
      <vt:lpstr>Our first HTML</vt:lpstr>
      <vt:lpstr>Our first HTML</vt:lpstr>
      <vt:lpstr>Our first HTML</vt:lpstr>
      <vt:lpstr>Our first HTML</vt:lpstr>
      <vt:lpstr>HTML Page Structure</vt:lpstr>
      <vt:lpstr>HTML Text Format</vt:lpstr>
      <vt:lpstr>HTML Style</vt:lpstr>
      <vt:lpstr>HTML Link</vt:lpstr>
      <vt:lpstr>Images</vt:lpstr>
      <vt:lpstr>Table</vt:lpstr>
      <vt:lpstr>Table with style</vt:lpstr>
      <vt:lpstr>List</vt:lpstr>
      <vt:lpstr>List</vt:lpstr>
      <vt:lpstr>Other html elements can be place inside &lt;li&gt;&lt;li&gt;</vt:lpstr>
      <vt:lpstr>Block</vt:lpstr>
      <vt:lpstr>Block</vt:lpstr>
      <vt:lpstr>Block</vt:lpstr>
      <vt:lpstr>Assignment </vt:lpstr>
      <vt:lpstr>CSS </vt:lpstr>
      <vt:lpstr>CSS </vt:lpstr>
      <vt:lpstr>Making the page center</vt:lpstr>
      <vt:lpstr>CSS (work on the header)</vt:lpstr>
      <vt:lpstr>CSS (work on the header)</vt:lpstr>
      <vt:lpstr>CSS (work on the header)</vt:lpstr>
      <vt:lpstr>CSS (work on the header). Put them inside a table</vt:lpstr>
      <vt:lpstr>Add Line below header</vt:lpstr>
      <vt:lpstr>Main content in a table</vt:lpstr>
      <vt:lpstr>After applying CSS</vt:lpstr>
      <vt:lpstr>Resources</vt:lpstr>
      <vt:lpstr>Terima Kasih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</dc:title>
  <dc:creator>Syahrial Dahler</dc:creator>
  <cp:lastModifiedBy>Wijaya, Derry</cp:lastModifiedBy>
  <cp:revision>28</cp:revision>
  <dcterms:created xsi:type="dcterms:W3CDTF">2017-08-25T20:50:34Z</dcterms:created>
  <dcterms:modified xsi:type="dcterms:W3CDTF">2017-09-23T22:05:47Z</dcterms:modified>
</cp:coreProperties>
</file>