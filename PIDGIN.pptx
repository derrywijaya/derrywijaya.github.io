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72" r:id="rId13"/>
    <p:sldId id="273" r:id="rId14"/>
    <p:sldId id="271" r:id="rId15"/>
    <p:sldId id="269" r:id="rId16"/>
    <p:sldId id="274" r:id="rId17"/>
    <p:sldId id="270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657E5FE-4F46-DD40-9BE4-4E438C2BB15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6"/>
            <p14:sldId id="267"/>
            <p14:sldId id="268"/>
            <p14:sldId id="272"/>
            <p14:sldId id="273"/>
            <p14:sldId id="271"/>
            <p14:sldId id="269"/>
            <p14:sldId id="274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8" d="100"/>
          <a:sy n="118" d="100"/>
        </p:scale>
        <p:origin x="-139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printerSettings" Target="printerSettings/printerSettings1.bin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8163C1-BA21-6C44-9F40-BD63CCD32C34}" type="datetimeFigureOut">
              <a:rPr lang="en-US" smtClean="0"/>
              <a:t>4/23/14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1D2E3-171D-EE40-B9D9-10608F800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177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C1D2E3-171D-EE40-B9D9-10608F8008C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806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62A40-E92D-BA49-807D-EBA5D46560FA}" type="datetimeFigureOut">
              <a:rPr lang="en-US" smtClean="0"/>
              <a:t>4/23/14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437B-46A4-0244-B336-6CA6452A2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903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62A40-E92D-BA49-807D-EBA5D46560FA}" type="datetimeFigureOut">
              <a:rPr lang="en-US" smtClean="0"/>
              <a:t>4/23/14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437B-46A4-0244-B336-6CA6452A2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592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62A40-E92D-BA49-807D-EBA5D46560FA}" type="datetimeFigureOut">
              <a:rPr lang="en-US" smtClean="0"/>
              <a:t>4/23/14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437B-46A4-0244-B336-6CA6452A2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681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62A40-E92D-BA49-807D-EBA5D46560FA}" type="datetimeFigureOut">
              <a:rPr lang="en-US" smtClean="0"/>
              <a:t>4/23/14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437B-46A4-0244-B336-6CA6452A2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274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62A40-E92D-BA49-807D-EBA5D46560FA}" type="datetimeFigureOut">
              <a:rPr lang="en-US" smtClean="0"/>
              <a:t>4/23/14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437B-46A4-0244-B336-6CA6452A2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62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62A40-E92D-BA49-807D-EBA5D46560FA}" type="datetimeFigureOut">
              <a:rPr lang="en-US" smtClean="0"/>
              <a:t>4/23/14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437B-46A4-0244-B336-6CA6452A2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81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62A40-E92D-BA49-807D-EBA5D46560FA}" type="datetimeFigureOut">
              <a:rPr lang="en-US" smtClean="0"/>
              <a:t>4/23/14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437B-46A4-0244-B336-6CA6452A2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2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62A40-E92D-BA49-807D-EBA5D46560FA}" type="datetimeFigureOut">
              <a:rPr lang="en-US" smtClean="0"/>
              <a:t>4/23/14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437B-46A4-0244-B336-6CA6452A2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58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62A40-E92D-BA49-807D-EBA5D46560FA}" type="datetimeFigureOut">
              <a:rPr lang="en-US" smtClean="0"/>
              <a:t>4/23/14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437B-46A4-0244-B336-6CA6452A2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04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62A40-E92D-BA49-807D-EBA5D46560FA}" type="datetimeFigureOut">
              <a:rPr lang="en-US" smtClean="0"/>
              <a:t>4/23/14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437B-46A4-0244-B336-6CA6452A2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039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62A40-E92D-BA49-807D-EBA5D46560FA}" type="datetimeFigureOut">
              <a:rPr lang="en-US" smtClean="0"/>
              <a:t>4/23/14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F437B-46A4-0244-B336-6CA6452A2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277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D62A40-E92D-BA49-807D-EBA5D46560FA}" type="datetimeFigureOut">
              <a:rPr lang="en-US" smtClean="0"/>
              <a:t>4/23/14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F437B-46A4-0244-B336-6CA6452A28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46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PIDGIN: </a:t>
            </a:r>
            <a:br>
              <a:rPr lang="en-US" b="1" dirty="0" smtClean="0">
                <a:solidFill>
                  <a:srgbClr val="C00000"/>
                </a:solidFill>
                <a:latin typeface="Times New Roman" charset="0"/>
                <a:ea typeface="ＭＳ Ｐゴシック" charset="0"/>
                <a:cs typeface="ＭＳ Ｐゴシック" charset="0"/>
              </a:rPr>
            </a:br>
            <a:r>
              <a:rPr lang="en-US" b="1" dirty="0" smtClean="0">
                <a:solidFill>
                  <a:srgbClr val="C00000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Aligning KB Ontologies using Web Texts as Interlingua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Derry Wijaya, </a:t>
            </a:r>
            <a:r>
              <a:rPr lang="en-US" b="1" dirty="0" err="1" smtClean="0"/>
              <a:t>Partha</a:t>
            </a:r>
            <a:r>
              <a:rPr lang="en-US" b="1" dirty="0" smtClean="0"/>
              <a:t> </a:t>
            </a:r>
            <a:r>
              <a:rPr lang="en-US" b="1" dirty="0" err="1" smtClean="0"/>
              <a:t>Pratim</a:t>
            </a:r>
            <a:r>
              <a:rPr lang="en-US" b="1" dirty="0" smtClean="0"/>
              <a:t> </a:t>
            </a:r>
            <a:r>
              <a:rPr lang="en-US" b="1" dirty="0" err="1" smtClean="0"/>
              <a:t>Talukdar</a:t>
            </a:r>
            <a:r>
              <a:rPr lang="en-US" b="1" dirty="0" smtClean="0"/>
              <a:t>, Tom Mitchell</a:t>
            </a:r>
            <a:endParaRPr lang="en-US" b="1" i="1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824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defTabSz="2343150"/>
            <a:r>
              <a:rPr lang="en-US" sz="2800" dirty="0" smtClean="0">
                <a:latin typeface="Arial" charset="0"/>
                <a:cs typeface="Arial" charset="0"/>
              </a:rPr>
              <a:t>There are many knowledge sources independently developed in the semantic web</a:t>
            </a:r>
          </a:p>
          <a:p>
            <a:pPr defTabSz="2343150"/>
            <a:r>
              <a:rPr lang="en-US" sz="2800" dirty="0" smtClean="0">
                <a:latin typeface="Arial" charset="0"/>
                <a:cs typeface="Arial" charset="0"/>
              </a:rPr>
              <a:t>They </a:t>
            </a:r>
            <a:r>
              <a:rPr lang="en-US" sz="2800" dirty="0" smtClean="0">
                <a:latin typeface="Arial" charset="0"/>
                <a:cs typeface="Arial" charset="0"/>
              </a:rPr>
              <a:t>can act as background knowledge to improve natural language understanding: </a:t>
            </a:r>
          </a:p>
          <a:p>
            <a:pPr lvl="1" defTabSz="2343150"/>
            <a:r>
              <a:rPr lang="en-US" sz="2400" dirty="0" smtClean="0">
                <a:latin typeface="Arial" charset="0"/>
                <a:cs typeface="Arial" charset="0"/>
              </a:rPr>
              <a:t>e.g., Wikipedia, Freebase, IMDB, NELL, Yago, WordNet, VerbNet etc.</a:t>
            </a:r>
          </a:p>
          <a:p>
            <a:r>
              <a:rPr lang="en-US" dirty="0" smtClean="0">
                <a:latin typeface="Arial" charset="0"/>
                <a:cs typeface="Arial" charset="0"/>
              </a:rPr>
              <a:t>But they are often </a:t>
            </a:r>
            <a:r>
              <a:rPr lang="en-US" b="1" dirty="0" smtClean="0">
                <a:latin typeface="Arial" charset="0"/>
                <a:cs typeface="Arial" charset="0"/>
              </a:rPr>
              <a:t>incomplete</a:t>
            </a:r>
          </a:p>
        </p:txBody>
      </p:sp>
    </p:spTree>
    <p:extLst>
      <p:ext uri="{BB962C8B-B14F-4D97-AF65-F5344CB8AC3E}">
        <p14:creationId xmlns:p14="http://schemas.microsoft.com/office/powerpoint/2010/main" val="3082651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defTabSz="2343150"/>
            <a:r>
              <a:rPr lang="en-US" sz="2800" dirty="0" smtClean="0">
                <a:latin typeface="Arial" charset="0"/>
                <a:cs typeface="Arial" charset="0"/>
              </a:rPr>
              <a:t>One way to improve KB coverage is to automatically align </a:t>
            </a:r>
            <a:r>
              <a:rPr lang="en-US" sz="2800" b="1" dirty="0" smtClean="0">
                <a:latin typeface="Arial" charset="0"/>
                <a:cs typeface="Arial" charset="0"/>
              </a:rPr>
              <a:t>categories</a:t>
            </a:r>
            <a:r>
              <a:rPr lang="en-US" sz="2800" dirty="0" smtClean="0">
                <a:latin typeface="Arial" charset="0"/>
                <a:cs typeface="Arial" charset="0"/>
              </a:rPr>
              <a:t> and </a:t>
            </a:r>
            <a:r>
              <a:rPr lang="en-US" sz="2800" b="1" dirty="0" smtClean="0">
                <a:latin typeface="Arial" charset="0"/>
                <a:cs typeface="Arial" charset="0"/>
              </a:rPr>
              <a:t>relations</a:t>
            </a:r>
            <a:r>
              <a:rPr lang="en-US" sz="2800" dirty="0" smtClean="0">
                <a:latin typeface="Arial" charset="0"/>
                <a:cs typeface="Arial" charset="0"/>
              </a:rPr>
              <a:t> across these knowledge bases</a:t>
            </a:r>
          </a:p>
          <a:p>
            <a:pPr lvl="1" defTabSz="2343150"/>
            <a:r>
              <a:rPr lang="en-US" sz="2400" dirty="0" smtClean="0">
                <a:latin typeface="Arial" charset="0"/>
                <a:cs typeface="Arial" charset="0"/>
              </a:rPr>
              <a:t>e.g., Yago:</a:t>
            </a:r>
            <a:r>
              <a:rPr lang="en-US" sz="2400" i="1" dirty="0" smtClean="0">
                <a:latin typeface="Arial" charset="0"/>
                <a:cs typeface="Arial" charset="0"/>
              </a:rPr>
              <a:t>wasBornIn</a:t>
            </a:r>
            <a:r>
              <a:rPr lang="en-US" sz="2400" dirty="0" smtClean="0">
                <a:latin typeface="Arial" charset="0"/>
                <a:cs typeface="Arial" charset="0"/>
              </a:rPr>
              <a:t> == NELL:</a:t>
            </a:r>
            <a:r>
              <a:rPr lang="en-US" sz="2400" i="1" dirty="0" smtClean="0">
                <a:latin typeface="Arial" charset="0"/>
                <a:cs typeface="Arial" charset="0"/>
              </a:rPr>
              <a:t>personbornincity</a:t>
            </a:r>
          </a:p>
          <a:p>
            <a:pPr lvl="1" defTabSz="2343150"/>
            <a:r>
              <a:rPr lang="en-US" sz="2400" dirty="0" smtClean="0">
                <a:latin typeface="Arial" charset="0"/>
                <a:cs typeface="Arial" charset="0"/>
              </a:rPr>
              <a:t>e.g., NELL:</a:t>
            </a:r>
            <a:r>
              <a:rPr lang="en-US" sz="2400" i="1" dirty="0" smtClean="0">
                <a:latin typeface="Arial" charset="0"/>
                <a:cs typeface="Arial" charset="0"/>
              </a:rPr>
              <a:t>actorStarredInMovie</a:t>
            </a:r>
            <a:r>
              <a:rPr lang="en-US" sz="2400" dirty="0" smtClean="0">
                <a:latin typeface="Arial" charset="0"/>
                <a:cs typeface="Arial" charset="0"/>
              </a:rPr>
              <a:t> == WordNet: star, act, play, cast, feature, 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148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Ontology Alignment</a:t>
            </a:r>
          </a:p>
          <a:p>
            <a:pPr lvl="1"/>
            <a:r>
              <a:rPr lang="en-US" dirty="0" smtClean="0"/>
              <a:t>connect predicates from ontologies from different KBs (e.g., KB1:</a:t>
            </a:r>
            <a:r>
              <a:rPr lang="en-US" i="1" dirty="0" smtClean="0"/>
              <a:t>bornIn</a:t>
            </a:r>
            <a:r>
              <a:rPr lang="en-US" dirty="0" smtClean="0"/>
              <a:t> == KB2:</a:t>
            </a:r>
            <a:r>
              <a:rPr lang="en-US" i="1" dirty="0" smtClean="0"/>
              <a:t>personBornIn</a:t>
            </a:r>
            <a:r>
              <a:rPr lang="en-US" dirty="0" smtClean="0"/>
              <a:t>)</a:t>
            </a:r>
          </a:p>
          <a:p>
            <a:r>
              <a:rPr lang="en-US" dirty="0" smtClean="0"/>
              <a:t>Lots of prior work: PARIS (2011), ... </a:t>
            </a:r>
          </a:p>
          <a:p>
            <a:pPr lvl="1"/>
            <a:r>
              <a:rPr lang="en-US" dirty="0" smtClean="0"/>
              <a:t>exploits predicate instance overlap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562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Going beyond Overlap</a:t>
            </a:r>
            <a:endParaRPr lang="en-US" dirty="0"/>
          </a:p>
        </p:txBody>
      </p:sp>
      <p:pic>
        <p:nvPicPr>
          <p:cNvPr id="4" name="Content Placeholder 3" descr="pidgin1.pd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6" b="195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423061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Going beyond Overlap</a:t>
            </a:r>
            <a:endParaRPr lang="en-US" dirty="0"/>
          </a:p>
        </p:txBody>
      </p:sp>
      <p:pic>
        <p:nvPicPr>
          <p:cNvPr id="7" name="Content Placeholder 6" descr="pidgin2.pd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563" r="-3563"/>
          <a:stretch>
            <a:fillRect/>
          </a:stretch>
        </p:blipFill>
        <p:spPr>
          <a:xfrm>
            <a:off x="457200" y="1600200"/>
            <a:ext cx="8229600" cy="4525963"/>
          </a:xfrm>
        </p:spPr>
      </p:pic>
    </p:spTree>
    <p:extLst>
      <p:ext uri="{BB962C8B-B14F-4D97-AF65-F5344CB8AC3E}">
        <p14:creationId xmlns:p14="http://schemas.microsoft.com/office/powerpoint/2010/main" val="1526781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Going beyond Overlap</a:t>
            </a:r>
            <a:endParaRPr lang="en-US" dirty="0"/>
          </a:p>
        </p:txBody>
      </p:sp>
      <p:pic>
        <p:nvPicPr>
          <p:cNvPr id="4" name="Content Placeholder 3" descr="pidgin3.pd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773" r="-577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798724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Going beyond Overlap</a:t>
            </a:r>
            <a:endParaRPr lang="en-US" dirty="0"/>
          </a:p>
        </p:txBody>
      </p:sp>
      <p:pic>
        <p:nvPicPr>
          <p:cNvPr id="4" name="Content Placeholder 3" descr="pidgin4.pd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894" r="-3894"/>
          <a:stretch>
            <a:fillRect/>
          </a:stretch>
        </p:blipFill>
        <p:spPr/>
      </p:pic>
      <p:sp>
        <p:nvSpPr>
          <p:cNvPr id="5" name="TextBox 4"/>
          <p:cNvSpPr txBox="1"/>
          <p:nvPr/>
        </p:nvSpPr>
        <p:spPr>
          <a:xfrm>
            <a:off x="346252" y="6126163"/>
            <a:ext cx="85547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Arial" charset="0"/>
              </a:rPr>
              <a:t>Extract </a:t>
            </a:r>
            <a:r>
              <a:rPr lang="en-US" b="1" dirty="0" smtClean="0">
                <a:latin typeface="Arial" charset="0"/>
              </a:rPr>
              <a:t>600m Subject-Verb-Object (SVO) triples</a:t>
            </a:r>
            <a:r>
              <a:rPr lang="en-US" dirty="0" smtClean="0">
                <a:latin typeface="Arial" charset="0"/>
              </a:rPr>
              <a:t> from a parsed web corpus (ClueWeb) of about </a:t>
            </a:r>
            <a:r>
              <a:rPr lang="en-US" b="1" dirty="0" smtClean="0">
                <a:latin typeface="Arial" charset="0"/>
              </a:rPr>
              <a:t>230 billion tokens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652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Putting it all Together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defTabSz="2343150"/>
            <a:r>
              <a:rPr lang="en-US" sz="2400" dirty="0" smtClean="0">
                <a:latin typeface="Arial" charset="0"/>
                <a:cs typeface="Arial" charset="0"/>
              </a:rPr>
              <a:t>Treats alignment as classification over graph</a:t>
            </a:r>
            <a:r>
              <a:rPr lang="en-US" sz="2400" b="1" dirty="0" smtClean="0">
                <a:latin typeface="Arial" charset="0"/>
                <a:cs typeface="Arial" charset="0"/>
              </a:rPr>
              <a:t>:</a:t>
            </a:r>
            <a:endParaRPr lang="en-US" sz="2400" dirty="0">
              <a:latin typeface="Arial" charset="0"/>
              <a:cs typeface="Arial" charset="0"/>
            </a:endParaRPr>
          </a:p>
          <a:p>
            <a:pPr lvl="1" defTabSz="2343150"/>
            <a:r>
              <a:rPr lang="en-US" sz="2000" dirty="0" smtClean="0">
                <a:latin typeface="Arial" charset="0"/>
                <a:cs typeface="Arial" charset="0"/>
              </a:rPr>
              <a:t>assigns (self) label to the node in </a:t>
            </a:r>
            <a:r>
              <a:rPr lang="en-US" sz="2000" i="1" dirty="0" smtClean="0">
                <a:latin typeface="Arial" charset="0"/>
                <a:cs typeface="Arial" charset="0"/>
              </a:rPr>
              <a:t>KB</a:t>
            </a:r>
            <a:r>
              <a:rPr lang="en-US" sz="2000" i="1" baseline="-25000" dirty="0" smtClean="0">
                <a:latin typeface="Arial" charset="0"/>
                <a:cs typeface="Arial" charset="0"/>
              </a:rPr>
              <a:t>1</a:t>
            </a:r>
          </a:p>
          <a:p>
            <a:pPr lvl="1" defTabSz="2343150"/>
            <a:r>
              <a:rPr lang="en-US" sz="2000" dirty="0" smtClean="0">
                <a:latin typeface="Arial" charset="0"/>
                <a:cs typeface="Arial" charset="0"/>
              </a:rPr>
              <a:t>starting with this initial label information, </a:t>
            </a:r>
            <a:r>
              <a:rPr lang="en-US" sz="2000" b="1" dirty="0" smtClean="0">
                <a:latin typeface="Arial" charset="0"/>
                <a:cs typeface="Arial" charset="0"/>
              </a:rPr>
              <a:t>PIDGIN </a:t>
            </a:r>
            <a:r>
              <a:rPr lang="en-US" sz="2000" dirty="0" smtClean="0">
                <a:latin typeface="Arial" charset="0"/>
                <a:cs typeface="Arial" charset="0"/>
              </a:rPr>
              <a:t>uses </a:t>
            </a:r>
            <a:r>
              <a:rPr lang="en-US" sz="2000" dirty="0" smtClean="0">
                <a:latin typeface="Arial" charset="0"/>
                <a:cs typeface="Arial" charset="0"/>
              </a:rPr>
              <a:t>label propagation to </a:t>
            </a:r>
            <a:r>
              <a:rPr lang="en-US" sz="2000" dirty="0" smtClean="0">
                <a:latin typeface="Arial" charset="0"/>
                <a:cs typeface="Arial" charset="0"/>
              </a:rPr>
              <a:t>classify the rest of the nodes</a:t>
            </a:r>
            <a:endParaRPr lang="en-US" sz="2000" b="1" dirty="0">
              <a:latin typeface="Arial" charset="0"/>
              <a:cs typeface="Arial" charset="0"/>
            </a:endParaRPr>
          </a:p>
        </p:txBody>
      </p:sp>
      <p:pic>
        <p:nvPicPr>
          <p:cNvPr id="4" name="Picture 60" descr="PIDGINlearni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871" y="3405885"/>
            <a:ext cx="6231890" cy="3022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2459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PIDGIN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 far we have mapped:</a:t>
            </a:r>
          </a:p>
          <a:p>
            <a:pPr lvl="1"/>
            <a:r>
              <a:rPr lang="en-US" sz="2400" dirty="0" smtClean="0"/>
              <a:t>NELL and Freebase</a:t>
            </a:r>
          </a:p>
          <a:p>
            <a:pPr lvl="1"/>
            <a:r>
              <a:rPr lang="en-US" sz="2400" dirty="0" smtClean="0"/>
              <a:t>NELL and Yago</a:t>
            </a:r>
          </a:p>
          <a:p>
            <a:pPr lvl="1"/>
            <a:r>
              <a:rPr lang="en-US" sz="2400" dirty="0" smtClean="0"/>
              <a:t>NELL and KBP</a:t>
            </a:r>
            <a:endParaRPr lang="en-US" sz="2400" dirty="0"/>
          </a:p>
        </p:txBody>
      </p:sp>
      <p:pic>
        <p:nvPicPr>
          <p:cNvPr id="4" name="Picture 3" descr="pidgin5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697" y="3612245"/>
            <a:ext cx="5854743" cy="275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307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By-product: </a:t>
            </a:r>
            <a:r>
              <a:rPr lang="en-US" sz="3600" dirty="0" smtClean="0"/>
              <a:t>Category Alignment from Relation Alignment</a:t>
            </a:r>
            <a:endParaRPr lang="en-US" sz="3600" dirty="0"/>
          </a:p>
        </p:txBody>
      </p:sp>
      <p:pic>
        <p:nvPicPr>
          <p:cNvPr id="6" name="Content Placeholder 5" descr="pidgin7.pd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11" r="-1311"/>
          <a:stretch>
            <a:fillRect/>
          </a:stretch>
        </p:blipFill>
        <p:spPr/>
      </p:pic>
      <p:sp>
        <p:nvSpPr>
          <p:cNvPr id="7" name="Rectangle 6"/>
          <p:cNvSpPr/>
          <p:nvPr/>
        </p:nvSpPr>
        <p:spPr>
          <a:xfrm>
            <a:off x="2410777" y="1506661"/>
            <a:ext cx="4218858" cy="40895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882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By-product: </a:t>
            </a:r>
            <a:r>
              <a:rPr lang="en-US" sz="3600" dirty="0" smtClean="0"/>
              <a:t>Category Alignment from Relation Alignment</a:t>
            </a:r>
            <a:endParaRPr lang="en-US" sz="3600" dirty="0"/>
          </a:p>
        </p:txBody>
      </p:sp>
      <p:pic>
        <p:nvPicPr>
          <p:cNvPr id="4" name="Content Placeholder 3" descr="pidgin8.pd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9534" b="-19534"/>
          <a:stretch>
            <a:fillRect/>
          </a:stretch>
        </p:blipFill>
        <p:spPr>
          <a:xfrm>
            <a:off x="1641064" y="1417638"/>
            <a:ext cx="6021762" cy="3311737"/>
          </a:xfrm>
        </p:spPr>
      </p:pic>
    </p:spTree>
    <p:extLst>
      <p:ext uri="{BB962C8B-B14F-4D97-AF65-F5344CB8AC3E}">
        <p14:creationId xmlns:p14="http://schemas.microsoft.com/office/powerpoint/2010/main" val="2506412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 and Category Alignment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 defTabSz="2343150">
              <a:buNone/>
              <a:tabLst>
                <a:tab pos="1760538" algn="l"/>
                <a:tab pos="2343150" algn="l"/>
                <a:tab pos="3514725" algn="l"/>
                <a:tab pos="4686300" algn="l"/>
              </a:tabLst>
            </a:pPr>
            <a:r>
              <a:rPr lang="en-US" dirty="0" smtClean="0">
                <a:latin typeface="Arial" charset="0"/>
                <a:cs typeface="Arial" charset="0"/>
              </a:rPr>
              <a:t>Examples of relation alignments: </a:t>
            </a:r>
          </a:p>
          <a:p>
            <a:pPr defTabSz="2343150">
              <a:tabLst>
                <a:tab pos="1760538" algn="l"/>
                <a:tab pos="2343150" algn="l"/>
                <a:tab pos="3514725" algn="l"/>
                <a:tab pos="4686300" algn="l"/>
              </a:tabLst>
            </a:pPr>
            <a:r>
              <a:rPr lang="en-US" dirty="0" smtClean="0">
                <a:latin typeface="Arial" charset="0"/>
                <a:cs typeface="Arial" charset="0"/>
              </a:rPr>
              <a:t>Freebase: </a:t>
            </a:r>
            <a:r>
              <a:rPr lang="en-US" i="1" dirty="0" smtClean="0">
                <a:solidFill>
                  <a:srgbClr val="000000"/>
                </a:solidFill>
                <a:latin typeface="Helvetica" charset="0"/>
                <a:ea typeface="Arial" charset="0"/>
                <a:cs typeface="Arial" charset="0"/>
              </a:rPr>
              <a:t>/medicine/</a:t>
            </a:r>
            <a:r>
              <a:rPr lang="en-US" i="1" dirty="0" err="1" smtClean="0">
                <a:solidFill>
                  <a:srgbClr val="000000"/>
                </a:solidFill>
                <a:latin typeface="Helvetica" charset="0"/>
                <a:ea typeface="Arial" charset="0"/>
                <a:cs typeface="Arial" charset="0"/>
              </a:rPr>
              <a:t>medical_treatment</a:t>
            </a:r>
            <a:r>
              <a:rPr lang="en-US" i="1" dirty="0" smtClean="0">
                <a:solidFill>
                  <a:srgbClr val="000000"/>
                </a:solidFill>
                <a:latin typeface="Helvetica" charset="0"/>
                <a:ea typeface="Arial" charset="0"/>
                <a:cs typeface="Arial" charset="0"/>
              </a:rPr>
              <a:t>/</a:t>
            </a:r>
            <a:r>
              <a:rPr lang="en-US" i="1" dirty="0" err="1" smtClean="0">
                <a:solidFill>
                  <a:srgbClr val="000000"/>
                </a:solidFill>
                <a:latin typeface="Helvetica" charset="0"/>
                <a:ea typeface="Arial" charset="0"/>
                <a:cs typeface="Arial" charset="0"/>
              </a:rPr>
              <a:t>side_effects</a:t>
            </a:r>
            <a:r>
              <a:rPr lang="en-US" i="1" dirty="0" smtClean="0">
                <a:solidFill>
                  <a:srgbClr val="000000"/>
                </a:solidFill>
                <a:latin typeface="Helvetica" charset="0"/>
                <a:ea typeface="Arial" charset="0"/>
                <a:cs typeface="Arial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Helvetica" charset="0"/>
                <a:ea typeface="Arial" charset="0"/>
                <a:cs typeface="Arial" charset="0"/>
              </a:rPr>
              <a:t>==   </a:t>
            </a:r>
            <a:r>
              <a:rPr lang="en-US" dirty="0" err="1" smtClean="0">
                <a:solidFill>
                  <a:srgbClr val="000000"/>
                </a:solidFill>
                <a:latin typeface="Helvetica" charset="0"/>
                <a:ea typeface="Arial" charset="0"/>
                <a:cs typeface="Arial" charset="0"/>
              </a:rPr>
              <a:t>NELL:</a:t>
            </a:r>
            <a:r>
              <a:rPr lang="en-US" i="1" dirty="0" err="1" smtClean="0">
                <a:solidFill>
                  <a:srgbClr val="000000"/>
                </a:solidFill>
                <a:latin typeface="Helvetica" charset="0"/>
                <a:ea typeface="Arial" charset="0"/>
                <a:cs typeface="Arial" charset="0"/>
              </a:rPr>
              <a:t>drughassideeffect</a:t>
            </a:r>
            <a:r>
              <a:rPr lang="en-US" dirty="0" smtClean="0">
                <a:solidFill>
                  <a:srgbClr val="000000"/>
                </a:solidFill>
                <a:latin typeface="Helvetica" charset="0"/>
                <a:ea typeface="Arial" charset="0"/>
                <a:cs typeface="Arial" charset="0"/>
              </a:rPr>
              <a:t>, </a:t>
            </a:r>
          </a:p>
          <a:p>
            <a:pPr defTabSz="2343150">
              <a:tabLst>
                <a:tab pos="1760538" algn="l"/>
                <a:tab pos="2343150" algn="l"/>
                <a:tab pos="3514725" algn="l"/>
                <a:tab pos="4686300" algn="l"/>
              </a:tabLst>
            </a:pPr>
            <a:r>
              <a:rPr lang="en-US" dirty="0" smtClean="0">
                <a:solidFill>
                  <a:srgbClr val="000000"/>
                </a:solidFill>
                <a:latin typeface="Helvetica" charset="0"/>
                <a:ea typeface="Arial" charset="0"/>
                <a:cs typeface="Arial" charset="0"/>
              </a:rPr>
              <a:t>Freebase:</a:t>
            </a:r>
            <a:r>
              <a:rPr lang="en-US" i="1" dirty="0" smtClean="0">
                <a:solidFill>
                  <a:srgbClr val="000000"/>
                </a:solidFill>
                <a:latin typeface="Helvetica" charset="0"/>
                <a:ea typeface="Arial" charset="0"/>
                <a:cs typeface="Arial" charset="0"/>
              </a:rPr>
              <a:t>/sports/league/</a:t>
            </a:r>
            <a:r>
              <a:rPr lang="en-US" i="1" dirty="0" err="1" smtClean="0">
                <a:solidFill>
                  <a:srgbClr val="000000"/>
                </a:solidFill>
                <a:latin typeface="Helvetica" charset="0"/>
                <a:ea typeface="Arial" charset="0"/>
                <a:cs typeface="Arial" charset="0"/>
              </a:rPr>
              <a:t>arena_stadium</a:t>
            </a:r>
            <a:r>
              <a:rPr lang="en-US" i="1" dirty="0" smtClean="0">
                <a:solidFill>
                  <a:srgbClr val="000000"/>
                </a:solidFill>
                <a:latin typeface="Helvetica" charset="0"/>
                <a:ea typeface="Arial" charset="0"/>
                <a:cs typeface="Arial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Helvetica" charset="0"/>
                <a:ea typeface="Arial" charset="0"/>
                <a:cs typeface="Arial" charset="0"/>
              </a:rPr>
              <a:t>== </a:t>
            </a:r>
            <a:r>
              <a:rPr lang="en-US" dirty="0" err="1" smtClean="0">
                <a:solidFill>
                  <a:srgbClr val="000000"/>
                </a:solidFill>
                <a:latin typeface="Helvetica" charset="0"/>
                <a:ea typeface="Arial" charset="0"/>
                <a:cs typeface="Arial" charset="0"/>
              </a:rPr>
              <a:t>NELL:</a:t>
            </a:r>
            <a:r>
              <a:rPr lang="en-US" i="1" dirty="0" err="1" smtClean="0">
                <a:solidFill>
                  <a:srgbClr val="000000"/>
                </a:solidFill>
                <a:latin typeface="Helvetica" charset="0"/>
                <a:ea typeface="Arial" charset="0"/>
                <a:cs typeface="Arial" charset="0"/>
              </a:rPr>
              <a:t>leaguestadiums</a:t>
            </a:r>
            <a:endParaRPr lang="en-US" i="1" dirty="0" smtClean="0">
              <a:solidFill>
                <a:srgbClr val="000000"/>
              </a:solidFill>
              <a:latin typeface="Helvetica" charset="0"/>
              <a:ea typeface="Arial" charset="0"/>
              <a:cs typeface="Arial" charset="0"/>
            </a:endParaRPr>
          </a:p>
          <a:p>
            <a:pPr marL="0" indent="0" defTabSz="2343150">
              <a:buNone/>
              <a:tabLst>
                <a:tab pos="1760538" algn="l"/>
                <a:tab pos="2343150" algn="l"/>
                <a:tab pos="3514725" algn="l"/>
                <a:tab pos="4686300" algn="l"/>
              </a:tabLst>
            </a:pPr>
            <a:endParaRPr lang="en-US" i="1" dirty="0" smtClean="0">
              <a:solidFill>
                <a:srgbClr val="000000"/>
              </a:solidFill>
              <a:latin typeface="Helvetica" charset="0"/>
              <a:ea typeface="Arial" charset="0"/>
              <a:cs typeface="Arial" charset="0"/>
            </a:endParaRPr>
          </a:p>
          <a:p>
            <a:pPr marL="0" indent="0" defTabSz="2343150">
              <a:buNone/>
              <a:tabLst>
                <a:tab pos="1760538" algn="l"/>
                <a:tab pos="2343150" algn="l"/>
                <a:tab pos="3514725" algn="l"/>
                <a:tab pos="4686300" algn="l"/>
              </a:tabLst>
            </a:pPr>
            <a:r>
              <a:rPr lang="en-US" dirty="0" smtClean="0">
                <a:solidFill>
                  <a:srgbClr val="000000"/>
                </a:solidFill>
                <a:latin typeface="Helvetica" charset="0"/>
                <a:ea typeface="Arial" charset="0"/>
                <a:cs typeface="Arial" charset="0"/>
              </a:rPr>
              <a:t>Examples of category alignments: </a:t>
            </a:r>
          </a:p>
          <a:p>
            <a:pPr defTabSz="2343150">
              <a:tabLst>
                <a:tab pos="1760538" algn="l"/>
                <a:tab pos="2343150" algn="l"/>
                <a:tab pos="3514725" algn="l"/>
                <a:tab pos="4686300" algn="l"/>
              </a:tabLst>
            </a:pPr>
            <a:r>
              <a:rPr lang="en-US" dirty="0" smtClean="0">
                <a:solidFill>
                  <a:srgbClr val="000000"/>
                </a:solidFill>
                <a:latin typeface="Helvetica" charset="0"/>
                <a:ea typeface="Arial" charset="0"/>
                <a:cs typeface="Arial" charset="0"/>
              </a:rPr>
              <a:t>Yago2:</a:t>
            </a:r>
            <a:r>
              <a:rPr lang="en-US" i="1" dirty="0" smtClean="0">
                <a:solidFill>
                  <a:srgbClr val="000000"/>
                </a:solidFill>
                <a:latin typeface="Helvetica" charset="0"/>
                <a:ea typeface="Arial" charset="0"/>
                <a:cs typeface="Arial" charset="0"/>
              </a:rPr>
              <a:t>wordnet_actor_109765278 </a:t>
            </a:r>
            <a:r>
              <a:rPr lang="en-US" dirty="0" smtClean="0">
                <a:solidFill>
                  <a:srgbClr val="000000"/>
                </a:solidFill>
                <a:latin typeface="Helvetica" charset="0"/>
                <a:ea typeface="Arial" charset="0"/>
                <a:cs typeface="Arial" charset="0"/>
              </a:rPr>
              <a:t>== </a:t>
            </a:r>
            <a:r>
              <a:rPr lang="en-US" dirty="0" err="1" smtClean="0">
                <a:solidFill>
                  <a:srgbClr val="000000"/>
                </a:solidFill>
                <a:latin typeface="Helvetica" charset="0"/>
                <a:ea typeface="Arial" charset="0"/>
                <a:cs typeface="Arial" charset="0"/>
              </a:rPr>
              <a:t>NELL:</a:t>
            </a:r>
            <a:r>
              <a:rPr lang="en-US" i="1" dirty="0" err="1" smtClean="0">
                <a:solidFill>
                  <a:srgbClr val="000000"/>
                </a:solidFill>
                <a:latin typeface="Helvetica" charset="0"/>
                <a:ea typeface="Arial" charset="0"/>
                <a:cs typeface="Arial" charset="0"/>
              </a:rPr>
              <a:t>actor</a:t>
            </a:r>
            <a:endParaRPr lang="en-US" dirty="0" smtClean="0">
              <a:solidFill>
                <a:srgbClr val="000000"/>
              </a:solidFill>
              <a:latin typeface="Helvetica" charset="0"/>
              <a:ea typeface="Arial" charset="0"/>
              <a:cs typeface="Arial" charset="0"/>
            </a:endParaRPr>
          </a:p>
          <a:p>
            <a:pPr defTabSz="2343150">
              <a:tabLst>
                <a:tab pos="1760538" algn="l"/>
                <a:tab pos="2343150" algn="l"/>
                <a:tab pos="3514725" algn="l"/>
                <a:tab pos="4686300" algn="l"/>
              </a:tabLst>
            </a:pPr>
            <a:r>
              <a:rPr lang="en-US" dirty="0" smtClean="0">
                <a:solidFill>
                  <a:srgbClr val="000000"/>
                </a:solidFill>
                <a:latin typeface="Helvetica" charset="0"/>
                <a:ea typeface="Arial" charset="0"/>
                <a:cs typeface="Arial" charset="0"/>
              </a:rPr>
              <a:t>Yago2:</a:t>
            </a:r>
            <a:r>
              <a:rPr lang="en-US" i="1" dirty="0" smtClean="0">
                <a:solidFill>
                  <a:srgbClr val="000000"/>
                </a:solidFill>
                <a:latin typeface="Helvetica" charset="0"/>
                <a:ea typeface="Arial" charset="0"/>
                <a:cs typeface="Arial" charset="0"/>
              </a:rPr>
              <a:t>yagoURL </a:t>
            </a:r>
            <a:r>
              <a:rPr lang="en-US" dirty="0" smtClean="0">
                <a:solidFill>
                  <a:srgbClr val="000000"/>
                </a:solidFill>
                <a:latin typeface="Helvetica" charset="0"/>
                <a:ea typeface="Arial" charset="0"/>
                <a:cs typeface="Arial" charset="0"/>
              </a:rPr>
              <a:t>== </a:t>
            </a:r>
            <a:r>
              <a:rPr lang="en-US" dirty="0" err="1" smtClean="0">
                <a:solidFill>
                  <a:srgbClr val="000000"/>
                </a:solidFill>
                <a:latin typeface="Helvetica" charset="0"/>
                <a:ea typeface="Arial" charset="0"/>
                <a:cs typeface="Arial" charset="0"/>
              </a:rPr>
              <a:t>NELL:</a:t>
            </a:r>
            <a:r>
              <a:rPr lang="en-US" i="1" dirty="0" err="1" smtClean="0">
                <a:solidFill>
                  <a:srgbClr val="000000"/>
                </a:solidFill>
                <a:latin typeface="Helvetica" charset="0"/>
                <a:ea typeface="Arial" charset="0"/>
                <a:cs typeface="Arial" charset="0"/>
              </a:rPr>
              <a:t>website</a:t>
            </a:r>
            <a:endParaRPr lang="en-US" dirty="0" smtClean="0">
              <a:solidFill>
                <a:srgbClr val="000000"/>
              </a:solidFill>
              <a:latin typeface="Helvetica" charset="0"/>
              <a:ea typeface="Arial" charset="0"/>
              <a:cs typeface="Arial" charset="0"/>
            </a:endParaRPr>
          </a:p>
          <a:p>
            <a:pPr defTabSz="2343150">
              <a:tabLst>
                <a:tab pos="1760538" algn="l"/>
                <a:tab pos="2343150" algn="l"/>
                <a:tab pos="3514725" algn="l"/>
                <a:tab pos="4686300" algn="l"/>
              </a:tabLst>
            </a:pPr>
            <a:r>
              <a:rPr lang="en-US" dirty="0" smtClean="0">
                <a:solidFill>
                  <a:srgbClr val="000000"/>
                </a:solidFill>
                <a:latin typeface="Helvetica" charset="0"/>
                <a:ea typeface="Arial" charset="0"/>
                <a:cs typeface="Arial" charset="0"/>
              </a:rPr>
              <a:t>Yago2:</a:t>
            </a:r>
            <a:r>
              <a:rPr lang="en-US" i="1" dirty="0" smtClean="0">
                <a:solidFill>
                  <a:srgbClr val="000000"/>
                </a:solidFill>
                <a:latin typeface="Helvetica" charset="0"/>
                <a:ea typeface="Arial" charset="0"/>
                <a:cs typeface="Arial" charset="0"/>
              </a:rPr>
              <a:t>yagoLegalActor </a:t>
            </a:r>
            <a:r>
              <a:rPr lang="en-US" dirty="0" smtClean="0">
                <a:solidFill>
                  <a:srgbClr val="000000"/>
                </a:solidFill>
                <a:latin typeface="Helvetica" charset="0"/>
                <a:ea typeface="Arial" charset="0"/>
                <a:cs typeface="Arial" charset="0"/>
              </a:rPr>
              <a:t>== </a:t>
            </a:r>
            <a:r>
              <a:rPr lang="en-US" dirty="0" err="1" smtClean="0">
                <a:solidFill>
                  <a:srgbClr val="000000"/>
                </a:solidFill>
                <a:latin typeface="Helvetica" charset="0"/>
                <a:ea typeface="Arial" charset="0"/>
                <a:cs typeface="Arial" charset="0"/>
              </a:rPr>
              <a:t>NELL:</a:t>
            </a:r>
            <a:r>
              <a:rPr lang="en-US" i="1" dirty="0" err="1" smtClean="0">
                <a:solidFill>
                  <a:srgbClr val="000000"/>
                </a:solidFill>
                <a:latin typeface="Helvetica" charset="0"/>
                <a:ea typeface="Arial" charset="0"/>
                <a:cs typeface="Arial" charset="0"/>
              </a:rPr>
              <a:t>agent</a:t>
            </a:r>
            <a:endParaRPr lang="en-US" i="1" dirty="0" smtClean="0">
              <a:solidFill>
                <a:srgbClr val="000000"/>
              </a:solidFill>
              <a:latin typeface="Helvetica" charset="0"/>
              <a:ea typeface="Arial" charset="0"/>
              <a:cs typeface="Arial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210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By-product: </a:t>
            </a:r>
            <a:r>
              <a:rPr lang="en-US" sz="3600" dirty="0" smtClean="0"/>
              <a:t>Learned Relation-Verb Mappings</a:t>
            </a:r>
            <a:endParaRPr lang="en-US" sz="3600" dirty="0"/>
          </a:p>
        </p:txBody>
      </p:sp>
      <p:pic>
        <p:nvPicPr>
          <p:cNvPr id="4" name="Content Placeholder 3" descr="pidgin6.pd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144" r="-1614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27886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We can also learn Relation-Verb Mappings by aligning NELL and </a:t>
            </a:r>
            <a:r>
              <a:rPr lang="en-US" sz="2800" b="1" dirty="0" smtClean="0"/>
              <a:t>WordNet</a:t>
            </a:r>
          </a:p>
          <a:p>
            <a:r>
              <a:rPr lang="en-US" sz="2800" dirty="0" smtClean="0"/>
              <a:t>Adding </a:t>
            </a:r>
            <a:r>
              <a:rPr lang="en-US" sz="2800" i="1" dirty="0" smtClean="0"/>
              <a:t>hypernym</a:t>
            </a:r>
            <a:r>
              <a:rPr lang="en-US" sz="2800" dirty="0"/>
              <a:t> </a:t>
            </a:r>
            <a:r>
              <a:rPr lang="en-US" sz="2800" dirty="0" smtClean="0"/>
              <a:t>and </a:t>
            </a:r>
            <a:r>
              <a:rPr lang="en-US" sz="2800" i="1" dirty="0" smtClean="0"/>
              <a:t>hyponym</a:t>
            </a:r>
            <a:r>
              <a:rPr lang="en-US" sz="2800" dirty="0" smtClean="0"/>
              <a:t> structure in WordNet improves mappings</a:t>
            </a: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914250" y="3942311"/>
            <a:ext cx="925565" cy="7963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Nell Relation</a:t>
            </a:r>
          </a:p>
          <a:p>
            <a:pPr algn="ctr"/>
            <a:r>
              <a:rPr lang="en-US" sz="1400" dirty="0" smtClean="0"/>
              <a:t>Nodes</a:t>
            </a:r>
            <a:endParaRPr lang="en-US" sz="1400" dirty="0"/>
          </a:p>
        </p:txBody>
      </p:sp>
      <p:sp>
        <p:nvSpPr>
          <p:cNvPr id="5" name="Rectangle 4"/>
          <p:cNvSpPr/>
          <p:nvPr/>
        </p:nvSpPr>
        <p:spPr>
          <a:xfrm>
            <a:off x="2143453" y="3942311"/>
            <a:ext cx="925565" cy="79637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Nell Concept Pairs</a:t>
            </a:r>
            <a:endParaRPr lang="en-US" sz="1400" dirty="0"/>
          </a:p>
        </p:txBody>
      </p:sp>
      <p:sp>
        <p:nvSpPr>
          <p:cNvPr id="6" name="Rectangle 5"/>
          <p:cNvSpPr/>
          <p:nvPr/>
        </p:nvSpPr>
        <p:spPr>
          <a:xfrm>
            <a:off x="5537943" y="3942311"/>
            <a:ext cx="925565" cy="7963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WordNet Verbs</a:t>
            </a:r>
            <a:endParaRPr lang="en-US" sz="1400" dirty="0"/>
          </a:p>
        </p:txBody>
      </p:sp>
      <p:sp>
        <p:nvSpPr>
          <p:cNvPr id="7" name="Rectangle 6"/>
          <p:cNvSpPr/>
          <p:nvPr/>
        </p:nvSpPr>
        <p:spPr>
          <a:xfrm>
            <a:off x="3425621" y="3942311"/>
            <a:ext cx="925565" cy="7963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Noun Phrase Pairs</a:t>
            </a:r>
            <a:endParaRPr lang="en-US" sz="1400" dirty="0"/>
          </a:p>
        </p:txBody>
      </p:sp>
      <p:sp>
        <p:nvSpPr>
          <p:cNvPr id="8" name="Rectangle 7"/>
          <p:cNvSpPr/>
          <p:nvPr/>
        </p:nvSpPr>
        <p:spPr>
          <a:xfrm>
            <a:off x="4464516" y="5132505"/>
            <a:ext cx="925565" cy="7963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Verbs</a:t>
            </a:r>
            <a:endParaRPr lang="en-US" sz="1400" dirty="0"/>
          </a:p>
        </p:txBody>
      </p:sp>
      <p:cxnSp>
        <p:nvCxnSpPr>
          <p:cNvPr id="10" name="Straight Connector 9"/>
          <p:cNvCxnSpPr>
            <a:stCxn id="4" idx="3"/>
            <a:endCxn id="5" idx="1"/>
          </p:cNvCxnSpPr>
          <p:nvPr/>
        </p:nvCxnSpPr>
        <p:spPr>
          <a:xfrm>
            <a:off x="1839815" y="4340500"/>
            <a:ext cx="3036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5" idx="3"/>
            <a:endCxn id="7" idx="1"/>
          </p:cNvCxnSpPr>
          <p:nvPr/>
        </p:nvCxnSpPr>
        <p:spPr>
          <a:xfrm>
            <a:off x="3069018" y="4340500"/>
            <a:ext cx="35660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7" idx="2"/>
            <a:endCxn id="8" idx="1"/>
          </p:cNvCxnSpPr>
          <p:nvPr/>
        </p:nvCxnSpPr>
        <p:spPr>
          <a:xfrm>
            <a:off x="3888404" y="4738688"/>
            <a:ext cx="576112" cy="792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8" idx="3"/>
            <a:endCxn id="6" idx="2"/>
          </p:cNvCxnSpPr>
          <p:nvPr/>
        </p:nvCxnSpPr>
        <p:spPr>
          <a:xfrm flipV="1">
            <a:off x="5390081" y="4738688"/>
            <a:ext cx="610645" cy="7920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4" name="Group 43"/>
          <p:cNvGrpSpPr/>
          <p:nvPr/>
        </p:nvGrpSpPr>
        <p:grpSpPr>
          <a:xfrm>
            <a:off x="6952635" y="4229652"/>
            <a:ext cx="1842738" cy="1896511"/>
            <a:chOff x="7190827" y="4229652"/>
            <a:chExt cx="1842738" cy="1896511"/>
          </a:xfrm>
        </p:grpSpPr>
        <p:sp>
          <p:nvSpPr>
            <p:cNvPr id="27" name="Rectangular Callout 26"/>
            <p:cNvSpPr/>
            <p:nvPr/>
          </p:nvSpPr>
          <p:spPr>
            <a:xfrm>
              <a:off x="7190827" y="4229652"/>
              <a:ext cx="1842738" cy="1896511"/>
            </a:xfrm>
            <a:prstGeom prst="wedgeRectCallout">
              <a:avLst>
                <a:gd name="adj1" fmla="val -75650"/>
                <a:gd name="adj2" fmla="val -36454"/>
              </a:avLst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363792" y="4960844"/>
              <a:ext cx="508000" cy="398189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 smtClean="0"/>
                <a:t>Verb2</a:t>
              </a:r>
              <a:endParaRPr lang="en-US" sz="1000" dirty="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7971183" y="4960844"/>
              <a:ext cx="508000" cy="398189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 smtClean="0"/>
                <a:t>Verb3</a:t>
              </a:r>
              <a:endParaRPr lang="en-US" sz="1000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717183" y="4340500"/>
              <a:ext cx="508000" cy="398189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 smtClean="0"/>
                <a:t>Verb1</a:t>
              </a:r>
              <a:endParaRPr lang="en-US" sz="1000" dirty="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7767984" y="5530693"/>
              <a:ext cx="508000" cy="398189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 smtClean="0"/>
                <a:t>Verb4</a:t>
              </a:r>
              <a:endParaRPr lang="en-US" sz="1000" dirty="0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8377585" y="5527009"/>
              <a:ext cx="508000" cy="398189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 smtClean="0"/>
                <a:t>Verb5</a:t>
              </a:r>
              <a:endParaRPr lang="en-US" sz="1000" dirty="0"/>
            </a:p>
          </p:txBody>
        </p:sp>
        <p:cxnSp>
          <p:nvCxnSpPr>
            <p:cNvPr id="35" name="Straight Connector 34"/>
            <p:cNvCxnSpPr>
              <a:stCxn id="30" idx="2"/>
              <a:endCxn id="28" idx="0"/>
            </p:cNvCxnSpPr>
            <p:nvPr/>
          </p:nvCxnSpPr>
          <p:spPr>
            <a:xfrm flipH="1">
              <a:off x="7617792" y="4738689"/>
              <a:ext cx="353391" cy="22215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30" idx="2"/>
              <a:endCxn id="29" idx="0"/>
            </p:cNvCxnSpPr>
            <p:nvPr/>
          </p:nvCxnSpPr>
          <p:spPr>
            <a:xfrm>
              <a:off x="7971183" y="4738689"/>
              <a:ext cx="254000" cy="22215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>
              <a:stCxn id="29" idx="2"/>
              <a:endCxn id="32" idx="0"/>
            </p:cNvCxnSpPr>
            <p:nvPr/>
          </p:nvCxnSpPr>
          <p:spPr>
            <a:xfrm flipH="1">
              <a:off x="8021984" y="5359033"/>
              <a:ext cx="203199" cy="17166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>
              <a:stCxn id="29" idx="2"/>
              <a:endCxn id="33" idx="0"/>
            </p:cNvCxnSpPr>
            <p:nvPr/>
          </p:nvCxnSpPr>
          <p:spPr>
            <a:xfrm>
              <a:off x="8225183" y="5359033"/>
              <a:ext cx="406402" cy="16797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89378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We can also learn Relation-Verb Mappings by aligning NELL and </a:t>
            </a:r>
            <a:r>
              <a:rPr lang="en-US" sz="2800" b="1" dirty="0" smtClean="0"/>
              <a:t>VerbNet</a:t>
            </a:r>
          </a:p>
          <a:p>
            <a:r>
              <a:rPr lang="en-US" sz="2800" dirty="0" smtClean="0"/>
              <a:t>Adding WordNet verbs improves NELL and VerbNet alignments</a:t>
            </a: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914250" y="3942311"/>
            <a:ext cx="925565" cy="7963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Nell Relation</a:t>
            </a:r>
          </a:p>
          <a:p>
            <a:pPr algn="ctr"/>
            <a:r>
              <a:rPr lang="en-US" sz="1400" dirty="0" smtClean="0"/>
              <a:t>Nodes</a:t>
            </a:r>
            <a:endParaRPr lang="en-US" sz="1400" dirty="0"/>
          </a:p>
        </p:txBody>
      </p:sp>
      <p:sp>
        <p:nvSpPr>
          <p:cNvPr id="5" name="Rectangle 4"/>
          <p:cNvSpPr/>
          <p:nvPr/>
        </p:nvSpPr>
        <p:spPr>
          <a:xfrm>
            <a:off x="2143453" y="3942311"/>
            <a:ext cx="925565" cy="79637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Nell Concept Pairs</a:t>
            </a:r>
            <a:endParaRPr lang="en-US" sz="1400" dirty="0"/>
          </a:p>
        </p:txBody>
      </p:sp>
      <p:sp>
        <p:nvSpPr>
          <p:cNvPr id="6" name="Rectangle 5"/>
          <p:cNvSpPr/>
          <p:nvPr/>
        </p:nvSpPr>
        <p:spPr>
          <a:xfrm>
            <a:off x="6398935" y="5174646"/>
            <a:ext cx="925565" cy="7963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WordNet Verbs</a:t>
            </a:r>
            <a:endParaRPr lang="en-US" sz="1400" dirty="0"/>
          </a:p>
        </p:txBody>
      </p:sp>
      <p:sp>
        <p:nvSpPr>
          <p:cNvPr id="7" name="Rectangle 6"/>
          <p:cNvSpPr/>
          <p:nvPr/>
        </p:nvSpPr>
        <p:spPr>
          <a:xfrm>
            <a:off x="3425621" y="3942311"/>
            <a:ext cx="925565" cy="7963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Noun Phrase Pairs</a:t>
            </a:r>
            <a:endParaRPr lang="en-US" sz="1400" dirty="0"/>
          </a:p>
        </p:txBody>
      </p:sp>
      <p:sp>
        <p:nvSpPr>
          <p:cNvPr id="8" name="Rectangle 7"/>
          <p:cNvSpPr/>
          <p:nvPr/>
        </p:nvSpPr>
        <p:spPr>
          <a:xfrm>
            <a:off x="4819675" y="3942311"/>
            <a:ext cx="925565" cy="79637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Verbs</a:t>
            </a:r>
            <a:endParaRPr lang="en-US" sz="1400" dirty="0"/>
          </a:p>
        </p:txBody>
      </p:sp>
      <p:cxnSp>
        <p:nvCxnSpPr>
          <p:cNvPr id="10" name="Straight Connector 9"/>
          <p:cNvCxnSpPr>
            <a:stCxn id="4" idx="3"/>
            <a:endCxn id="5" idx="1"/>
          </p:cNvCxnSpPr>
          <p:nvPr/>
        </p:nvCxnSpPr>
        <p:spPr>
          <a:xfrm>
            <a:off x="1839815" y="4340500"/>
            <a:ext cx="3036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5" idx="3"/>
            <a:endCxn id="7" idx="1"/>
          </p:cNvCxnSpPr>
          <p:nvPr/>
        </p:nvCxnSpPr>
        <p:spPr>
          <a:xfrm>
            <a:off x="3069018" y="4340500"/>
            <a:ext cx="35660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7" idx="3"/>
            <a:endCxn id="8" idx="1"/>
          </p:cNvCxnSpPr>
          <p:nvPr/>
        </p:nvCxnSpPr>
        <p:spPr>
          <a:xfrm>
            <a:off x="4351186" y="4340500"/>
            <a:ext cx="4684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8" idx="3"/>
            <a:endCxn id="6" idx="1"/>
          </p:cNvCxnSpPr>
          <p:nvPr/>
        </p:nvCxnSpPr>
        <p:spPr>
          <a:xfrm>
            <a:off x="5745240" y="4340500"/>
            <a:ext cx="653695" cy="12323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398935" y="3942311"/>
            <a:ext cx="925565" cy="7963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VerbNet classes</a:t>
            </a:r>
            <a:endParaRPr lang="en-US" sz="1400" dirty="0"/>
          </a:p>
        </p:txBody>
      </p:sp>
      <p:cxnSp>
        <p:nvCxnSpPr>
          <p:cNvPr id="34" name="Straight Connector 33"/>
          <p:cNvCxnSpPr>
            <a:stCxn id="8" idx="3"/>
            <a:endCxn id="31" idx="1"/>
          </p:cNvCxnSpPr>
          <p:nvPr/>
        </p:nvCxnSpPr>
        <p:spPr>
          <a:xfrm>
            <a:off x="5745240" y="4340500"/>
            <a:ext cx="6536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31" idx="2"/>
            <a:endCxn id="6" idx="0"/>
          </p:cNvCxnSpPr>
          <p:nvPr/>
        </p:nvCxnSpPr>
        <p:spPr>
          <a:xfrm>
            <a:off x="6861718" y="4738688"/>
            <a:ext cx="0" cy="4359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7627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PIDGIN uses large web-text as interlingua overcomes limitations of previous approaches</a:t>
            </a:r>
          </a:p>
          <a:p>
            <a:r>
              <a:rPr lang="en-US" dirty="0" smtClean="0"/>
              <a:t>Relation-Verb Mappings can be used to read and understand sentences better</a:t>
            </a:r>
            <a:endParaRPr lang="en-US" dirty="0"/>
          </a:p>
          <a:p>
            <a:r>
              <a:rPr lang="en-US" dirty="0" smtClean="0"/>
              <a:t>Current work</a:t>
            </a:r>
          </a:p>
          <a:p>
            <a:pPr lvl="1"/>
            <a:r>
              <a:rPr lang="en-US" dirty="0" smtClean="0"/>
              <a:t>Building a verb resource for improving natural language understanding</a:t>
            </a:r>
          </a:p>
        </p:txBody>
      </p:sp>
    </p:spTree>
    <p:extLst>
      <p:ext uri="{BB962C8B-B14F-4D97-AF65-F5344CB8AC3E}">
        <p14:creationId xmlns:p14="http://schemas.microsoft.com/office/powerpoint/2010/main" val="968064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432</Words>
  <Application>Microsoft Macintosh PowerPoint</Application>
  <PresentationFormat>On-screen Show (4:3)</PresentationFormat>
  <Paragraphs>72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PIDGIN:  Aligning KB Ontologies using Web Texts as Interlingua</vt:lpstr>
      <vt:lpstr>Motivation</vt:lpstr>
      <vt:lpstr>Goal</vt:lpstr>
      <vt:lpstr>Goal</vt:lpstr>
      <vt:lpstr>Going beyond Overlap</vt:lpstr>
      <vt:lpstr>Going beyond Overlap</vt:lpstr>
      <vt:lpstr>Going beyond Overlap</vt:lpstr>
      <vt:lpstr>Going beyond Overlap</vt:lpstr>
      <vt:lpstr>Putting it all Together</vt:lpstr>
      <vt:lpstr>PIDGIN</vt:lpstr>
      <vt:lpstr>By-product: Category Alignment from Relation Alignment</vt:lpstr>
      <vt:lpstr>By-product: Category Alignment from Relation Alignment</vt:lpstr>
      <vt:lpstr>Relation and Category Alignment</vt:lpstr>
      <vt:lpstr>By-product: Learned Relation-Verb Mappings</vt:lpstr>
      <vt:lpstr>Current Work</vt:lpstr>
      <vt:lpstr>Current Work</vt:lpstr>
      <vt:lpstr>Summary</vt:lpstr>
    </vt:vector>
  </TitlesOfParts>
  <Company>Carnegie Mellon University/LTI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PIDGIN:  Aligning KB Ontologies using Web Texts as Interlingua</dc:title>
  <dc:creator>Derry Wijaya</dc:creator>
  <cp:lastModifiedBy>Derry Wijaya</cp:lastModifiedBy>
  <cp:revision>10</cp:revision>
  <dcterms:created xsi:type="dcterms:W3CDTF">2014-04-23T10:43:38Z</dcterms:created>
  <dcterms:modified xsi:type="dcterms:W3CDTF">2014-04-23T18:48:21Z</dcterms:modified>
</cp:coreProperties>
</file>