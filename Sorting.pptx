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1"/>
  </p:notesMasterIdLst>
  <p:sldIdLst>
    <p:sldId id="256" r:id="rId2"/>
    <p:sldId id="257" r:id="rId3"/>
    <p:sldId id="260" r:id="rId4"/>
    <p:sldId id="284" r:id="rId5"/>
    <p:sldId id="282" r:id="rId6"/>
    <p:sldId id="274" r:id="rId7"/>
    <p:sldId id="276" r:id="rId8"/>
    <p:sldId id="278" r:id="rId9"/>
    <p:sldId id="414" r:id="rId10"/>
    <p:sldId id="416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8" r:id="rId65"/>
    <p:sldId id="339" r:id="rId66"/>
    <p:sldId id="340" r:id="rId67"/>
    <p:sldId id="341" r:id="rId68"/>
    <p:sldId id="342" r:id="rId69"/>
    <p:sldId id="343" r:id="rId70"/>
    <p:sldId id="344" r:id="rId71"/>
    <p:sldId id="345" r:id="rId72"/>
    <p:sldId id="346" r:id="rId73"/>
    <p:sldId id="347" r:id="rId74"/>
    <p:sldId id="348" r:id="rId75"/>
    <p:sldId id="349" r:id="rId76"/>
    <p:sldId id="350" r:id="rId77"/>
    <p:sldId id="351" r:id="rId78"/>
    <p:sldId id="352" r:id="rId79"/>
    <p:sldId id="353" r:id="rId80"/>
    <p:sldId id="354" r:id="rId81"/>
    <p:sldId id="355" r:id="rId82"/>
    <p:sldId id="356" r:id="rId83"/>
    <p:sldId id="357" r:id="rId84"/>
    <p:sldId id="358" r:id="rId85"/>
    <p:sldId id="359" r:id="rId86"/>
    <p:sldId id="360" r:id="rId87"/>
    <p:sldId id="361" r:id="rId88"/>
    <p:sldId id="362" r:id="rId89"/>
    <p:sldId id="363" r:id="rId90"/>
    <p:sldId id="364" r:id="rId91"/>
    <p:sldId id="365" r:id="rId92"/>
    <p:sldId id="366" r:id="rId93"/>
    <p:sldId id="367" r:id="rId94"/>
    <p:sldId id="368" r:id="rId95"/>
    <p:sldId id="369" r:id="rId96"/>
    <p:sldId id="370" r:id="rId97"/>
    <p:sldId id="371" r:id="rId98"/>
    <p:sldId id="372" r:id="rId99"/>
    <p:sldId id="373" r:id="rId100"/>
    <p:sldId id="374" r:id="rId101"/>
    <p:sldId id="375" r:id="rId102"/>
    <p:sldId id="376" r:id="rId103"/>
    <p:sldId id="377" r:id="rId104"/>
    <p:sldId id="378" r:id="rId105"/>
    <p:sldId id="379" r:id="rId106"/>
    <p:sldId id="380" r:id="rId107"/>
    <p:sldId id="381" r:id="rId108"/>
    <p:sldId id="382" r:id="rId109"/>
    <p:sldId id="383" r:id="rId110"/>
    <p:sldId id="384" r:id="rId111"/>
    <p:sldId id="385" r:id="rId112"/>
    <p:sldId id="386" r:id="rId113"/>
    <p:sldId id="387" r:id="rId114"/>
    <p:sldId id="388" r:id="rId115"/>
    <p:sldId id="389" r:id="rId116"/>
    <p:sldId id="390" r:id="rId117"/>
    <p:sldId id="391" r:id="rId118"/>
    <p:sldId id="392" r:id="rId119"/>
    <p:sldId id="393" r:id="rId120"/>
    <p:sldId id="394" r:id="rId121"/>
    <p:sldId id="395" r:id="rId122"/>
    <p:sldId id="396" r:id="rId123"/>
    <p:sldId id="397" r:id="rId124"/>
    <p:sldId id="398" r:id="rId125"/>
    <p:sldId id="399" r:id="rId126"/>
    <p:sldId id="400" r:id="rId127"/>
    <p:sldId id="401" r:id="rId128"/>
    <p:sldId id="402" r:id="rId129"/>
    <p:sldId id="403" r:id="rId130"/>
    <p:sldId id="417" r:id="rId131"/>
    <p:sldId id="418" r:id="rId132"/>
    <p:sldId id="419" r:id="rId133"/>
    <p:sldId id="420" r:id="rId134"/>
    <p:sldId id="421" r:id="rId135"/>
    <p:sldId id="422" r:id="rId136"/>
    <p:sldId id="423" r:id="rId137"/>
    <p:sldId id="424" r:id="rId138"/>
    <p:sldId id="425" r:id="rId139"/>
    <p:sldId id="404" r:id="rId140"/>
    <p:sldId id="405" r:id="rId141"/>
    <p:sldId id="406" r:id="rId142"/>
    <p:sldId id="407" r:id="rId143"/>
    <p:sldId id="408" r:id="rId144"/>
    <p:sldId id="409" r:id="rId145"/>
    <p:sldId id="410" r:id="rId146"/>
    <p:sldId id="411" r:id="rId147"/>
    <p:sldId id="412" r:id="rId148"/>
    <p:sldId id="280" r:id="rId149"/>
    <p:sldId id="281" r:id="rId1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/>
    <p:restoredTop sz="94614"/>
  </p:normalViewPr>
  <p:slideViewPr>
    <p:cSldViewPr snapToGrid="0" snapToObjects="1">
      <p:cViewPr>
        <p:scale>
          <a:sx n="70" d="100"/>
          <a:sy n="70" d="100"/>
        </p:scale>
        <p:origin x="408" y="1344"/>
      </p:cViewPr>
      <p:guideLst/>
    </p:cSldViewPr>
  </p:slideViewPr>
  <p:outlineViewPr>
    <p:cViewPr>
      <p:scale>
        <a:sx n="33" d="100"/>
        <a:sy n="33" d="100"/>
      </p:scale>
      <p:origin x="0" y="-11884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00" Type="http://schemas.openxmlformats.org/officeDocument/2006/relationships/slide" Target="slides/slide99.xml"/><Relationship Id="rId150" Type="http://schemas.openxmlformats.org/officeDocument/2006/relationships/slide" Target="slides/slide149.xml"/><Relationship Id="rId151" Type="http://schemas.openxmlformats.org/officeDocument/2006/relationships/notesMaster" Target="notesMasters/notesMaster1.xml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A246B-AED6-3443-95E2-7ACACBAADE36}" type="datetimeFigureOut">
              <a:rPr lang="en-US" smtClean="0"/>
              <a:t>8/5/17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02524-0620-034E-8A54-68367717D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0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8/5/17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8/5/17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ratch.mit.edu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://www.nytimes.com/interactive/science/rock-paper-scissors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microsoft.com/office/2007/relationships/hdphoto" Target="../media/hdphoto3.wdp"/><Relationship Id="rId5" Type="http://schemas.microsoft.com/office/2007/relationships/hdphoto" Target="../media/hdphoto4.wdp"/><Relationship Id="rId6" Type="http://schemas.microsoft.com/office/2007/relationships/hdphoto" Target="../media/hdphoto5.wdp"/><Relationship Id="rId7" Type="http://schemas.microsoft.com/office/2007/relationships/hdphoto" Target="../media/hdphoto6.wdp"/><Relationship Id="rId8" Type="http://schemas.microsoft.com/office/2007/relationships/hdphoto" Target="../media/hdphoto7.wdp"/><Relationship Id="rId9" Type="http://schemas.microsoft.com/office/2007/relationships/hdphoto" Target="../media/hdphoto8.wdp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athsisfun.com/games/towerofhanoi.html" TargetMode="Externa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Computer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III. </a:t>
            </a:r>
            <a:r>
              <a:rPr lang="en-US" dirty="0" smtClean="0"/>
              <a:t>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6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Recap: </a:t>
            </a:r>
            <a:r>
              <a:rPr lang="en-US" sz="3600" dirty="0" smtClean="0"/>
              <a:t>What is computer programming?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Telling computers to solve a problem 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US" dirty="0" smtClean="0"/>
              <a:t>Think about the problem and generate a solution (</a:t>
            </a:r>
            <a:r>
              <a:rPr lang="en-US" sz="2400" b="1" u="sng" dirty="0" smtClean="0"/>
              <a:t>algorithm</a:t>
            </a:r>
            <a:r>
              <a:rPr lang="en-US" dirty="0" smtClean="0"/>
              <a:t>)</a:t>
            </a:r>
          </a:p>
          <a:p>
            <a:pPr lvl="2"/>
            <a:r>
              <a:rPr lang="is-IS" dirty="0" smtClean="0"/>
              <a:t>Break down the problem into step by step solution</a:t>
            </a:r>
            <a:endParaRPr lang="en-US" dirty="0" smtClean="0"/>
          </a:p>
          <a:p>
            <a:pPr marL="987552" lvl="1" indent="-457200">
              <a:buFont typeface="+mj-lt"/>
              <a:buAutoNum type="arabicPeriod"/>
            </a:pPr>
            <a:r>
              <a:rPr lang="en-US" dirty="0" smtClean="0"/>
              <a:t>Write the solution in a language that computer can understand (</a:t>
            </a:r>
            <a:r>
              <a:rPr lang="en-US" sz="2400" b="1" u="sng" dirty="0" smtClean="0"/>
              <a:t>coding</a:t>
            </a:r>
            <a:r>
              <a:rPr lang="en-US" dirty="0" smtClean="0"/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45" r="19697" b="19751"/>
          <a:stretch/>
        </p:blipFill>
        <p:spPr>
          <a:xfrm>
            <a:off x="2683933" y="4622799"/>
            <a:ext cx="6976533" cy="16764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7364" y="4088883"/>
            <a:ext cx="4409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Algorithm for going to school in </a:t>
            </a:r>
            <a:r>
              <a:rPr lang="en-US" smtClean="0"/>
              <a:t>the morning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9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the step by step instruction </a:t>
            </a:r>
            <a:br>
              <a:rPr lang="en-US" dirty="0" smtClean="0"/>
            </a:br>
            <a:r>
              <a:rPr lang="en-US" dirty="0" smtClean="0"/>
              <a:t>in a programming language </a:t>
            </a:r>
          </a:p>
          <a:p>
            <a:r>
              <a:rPr lang="en-US" dirty="0" smtClean="0"/>
              <a:t>Scratch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scratch.mit.edu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2" b="98177" l="2918" r="96552">
                        <a14:foregroundMark x1="31300" y1="14586" x2="31300" y2="14586"/>
                        <a14:foregroundMark x1="35279" y1="14306" x2="35279" y2="14306"/>
                        <a14:foregroundMark x1="95491" y1="87938" x2="95491" y2="87938"/>
                        <a14:foregroundMark x1="61804" y1="71388" x2="61804" y2="71388"/>
                        <a14:foregroundMark x1="53846" y1="72651" x2="53846" y2="72651"/>
                        <a14:foregroundMark x1="65252" y1="72370" x2="65252" y2="72370"/>
                        <a14:foregroundMark x1="69231" y1="71950" x2="69231" y2="71950"/>
                        <a14:foregroundMark x1="55172" y1="70266" x2="55172" y2="70266"/>
                        <a14:foregroundMark x1="96552" y1="98177" x2="96552" y2="981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167" y="243615"/>
            <a:ext cx="3407833" cy="64450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0546" y="1437733"/>
            <a:ext cx="111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repetition</a:t>
            </a:r>
            <a:endParaRPr lang="en-US" dirty="0"/>
          </a:p>
        </p:txBody>
      </p:sp>
      <p:sp>
        <p:nvSpPr>
          <p:cNvPr id="6" name="Left Brace 5"/>
          <p:cNvSpPr/>
          <p:nvPr/>
        </p:nvSpPr>
        <p:spPr>
          <a:xfrm>
            <a:off x="8517467" y="999067"/>
            <a:ext cx="312419" cy="128693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8517467" y="2455334"/>
            <a:ext cx="312419" cy="20658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21972" y="3281475"/>
            <a:ext cx="130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sequencing</a:t>
            </a:r>
            <a:endParaRPr lang="en-US" dirty="0"/>
          </a:p>
        </p:txBody>
      </p:sp>
      <p:sp>
        <p:nvSpPr>
          <p:cNvPr id="9" name="Left Brace 8"/>
          <p:cNvSpPr/>
          <p:nvPr/>
        </p:nvSpPr>
        <p:spPr>
          <a:xfrm>
            <a:off x="8525086" y="4622801"/>
            <a:ext cx="259081" cy="18723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02625" y="5354135"/>
            <a:ext cx="1258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  <a:r>
              <a:rPr lang="en-US" dirty="0" smtClean="0"/>
              <a:t>onditional</a:t>
            </a:r>
          </a:p>
          <a:p>
            <a:pPr algn="ctr"/>
            <a:r>
              <a:rPr lang="en-US" dirty="0" smtClean="0"/>
              <a:t>logic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58690" y="6380890"/>
            <a:ext cx="87611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https://www.tynker.com/blog/articles/ideas-and-tips/how-to-explain-algorithms-to-kids/</a:t>
            </a:r>
          </a:p>
        </p:txBody>
      </p:sp>
    </p:spTree>
    <p:extLst>
      <p:ext uri="{BB962C8B-B14F-4D97-AF65-F5344CB8AC3E}">
        <p14:creationId xmlns:p14="http://schemas.microsoft.com/office/powerpoint/2010/main" val="45707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Coding: </a:t>
            </a:r>
            <a:r>
              <a:rPr lang="en-US" sz="3600" dirty="0"/>
              <a:t>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354643"/>
          </a:xfrm>
        </p:spPr>
        <p:txBody>
          <a:bodyPr>
            <a:normAutofit/>
          </a:bodyPr>
          <a:lstStyle/>
          <a:p>
            <a:r>
              <a:rPr lang="en-US" dirty="0" smtClean="0"/>
              <a:t>If the number is bigger than 1 then:</a:t>
            </a:r>
          </a:p>
          <a:p>
            <a:pPr lvl="1"/>
            <a:r>
              <a:rPr lang="en-US" i="0" dirty="0" smtClean="0"/>
              <a:t>If the number is bigger than 2 then:</a:t>
            </a:r>
          </a:p>
          <a:p>
            <a:pPr lvl="2"/>
            <a:r>
              <a:rPr lang="en-US" dirty="0" smtClean="0"/>
              <a:t>The number is 3</a:t>
            </a:r>
            <a:endParaRPr lang="en-US" i="0" dirty="0" smtClean="0"/>
          </a:p>
          <a:p>
            <a:pPr lvl="1"/>
            <a:r>
              <a:rPr lang="en-US" i="0" dirty="0" smtClean="0"/>
              <a:t>Else:</a:t>
            </a:r>
          </a:p>
          <a:p>
            <a:pPr lvl="2"/>
            <a:r>
              <a:rPr lang="en-US" dirty="0" smtClean="0"/>
              <a:t>The number is 2</a:t>
            </a:r>
          </a:p>
          <a:p>
            <a:r>
              <a:rPr lang="en-US" dirty="0" smtClean="0"/>
              <a:t>Else:</a:t>
            </a:r>
          </a:p>
          <a:p>
            <a:pPr lvl="1"/>
            <a:r>
              <a:rPr lang="en-US" i="0" dirty="0" smtClean="0"/>
              <a:t>If the number is bigger than 0 then:</a:t>
            </a:r>
          </a:p>
          <a:p>
            <a:pPr lvl="2"/>
            <a:r>
              <a:rPr lang="en-US" dirty="0" smtClean="0"/>
              <a:t>The number is 1</a:t>
            </a:r>
          </a:p>
          <a:p>
            <a:pPr lvl="1"/>
            <a:r>
              <a:rPr lang="en-US" i="0" dirty="0" smtClean="0"/>
              <a:t>Else:</a:t>
            </a:r>
          </a:p>
          <a:p>
            <a:pPr lvl="2"/>
            <a:r>
              <a:rPr lang="en-US" dirty="0" smtClean="0"/>
              <a:t>The number is 0</a:t>
            </a:r>
            <a:endParaRPr lang="en-US" i="0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1828740"/>
            <a:ext cx="3924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Guess a number between 0 and 3:</a:t>
            </a:r>
            <a:endParaRPr lang="en-US" sz="2000" dirty="0"/>
          </a:p>
        </p:txBody>
      </p:sp>
      <p:grpSp>
        <p:nvGrpSpPr>
          <p:cNvPr id="44" name="Group 43"/>
          <p:cNvGrpSpPr/>
          <p:nvPr/>
        </p:nvGrpSpPr>
        <p:grpSpPr>
          <a:xfrm>
            <a:off x="7303969" y="2813068"/>
            <a:ext cx="3978903" cy="2415625"/>
            <a:chOff x="7842812" y="2139597"/>
            <a:chExt cx="3978903" cy="2415625"/>
          </a:xfrm>
        </p:grpSpPr>
        <p:sp>
          <p:nvSpPr>
            <p:cNvPr id="5" name="TextBox 4"/>
            <p:cNvSpPr txBox="1"/>
            <p:nvPr/>
          </p:nvSpPr>
          <p:spPr>
            <a:xfrm>
              <a:off x="9297474" y="2139597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&gt; 1?</a:t>
              </a:r>
              <a:endParaRPr lang="en-US" dirty="0"/>
            </a:p>
          </p:txBody>
        </p:sp>
        <p:cxnSp>
          <p:nvCxnSpPr>
            <p:cNvPr id="16" name="Straight Arrow Connector 15"/>
            <p:cNvCxnSpPr>
              <a:stCxn id="5" idx="2"/>
            </p:cNvCxnSpPr>
            <p:nvPr/>
          </p:nvCxnSpPr>
          <p:spPr>
            <a:xfrm flipH="1">
              <a:off x="8967691" y="2508929"/>
              <a:ext cx="733099" cy="67445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5" idx="2"/>
              <a:endCxn id="21" idx="0"/>
            </p:cNvCxnSpPr>
            <p:nvPr/>
          </p:nvCxnSpPr>
          <p:spPr>
            <a:xfrm>
              <a:off x="9700790" y="2508929"/>
              <a:ext cx="1084648" cy="60409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8649898" y="3145124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&gt; 0?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382122" y="3113021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&gt; 2?</a:t>
              </a:r>
              <a:endParaRPr lang="en-US" dirty="0"/>
            </a:p>
          </p:txBody>
        </p:sp>
        <p:cxnSp>
          <p:nvCxnSpPr>
            <p:cNvPr id="22" name="Straight Arrow Connector 21"/>
            <p:cNvCxnSpPr>
              <a:endCxn id="28" idx="0"/>
            </p:cNvCxnSpPr>
            <p:nvPr/>
          </p:nvCxnSpPr>
          <p:spPr>
            <a:xfrm flipH="1">
              <a:off x="8187618" y="3467499"/>
              <a:ext cx="780073" cy="71839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endCxn id="29" idx="0"/>
            </p:cNvCxnSpPr>
            <p:nvPr/>
          </p:nvCxnSpPr>
          <p:spPr>
            <a:xfrm>
              <a:off x="8968144" y="3482353"/>
              <a:ext cx="410708" cy="69785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0052339" y="3438686"/>
              <a:ext cx="733099" cy="67445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0785438" y="3438686"/>
              <a:ext cx="767538" cy="61565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7842812" y="418589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= 0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4046" y="418020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= 1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789560" y="4153788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= 2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132103" y="4110121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= 3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941530" y="2530896"/>
              <a:ext cx="429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173101" y="2482347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yes</a:t>
              </a:r>
              <a:endParaRPr lang="en-US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181036" y="3513836"/>
              <a:ext cx="429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</a:t>
              </a:r>
              <a:endParaRPr 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173498" y="3529428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yes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999284" y="3513836"/>
              <a:ext cx="429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</a:t>
              </a:r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81630" y="3482353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yes</a:t>
              </a:r>
              <a:endParaRPr lang="en-US" dirty="0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765738" y="2285998"/>
            <a:ext cx="4146331" cy="394139"/>
          </a:xfrm>
          <a:prstGeom prst="round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634655" y="2726759"/>
            <a:ext cx="999603" cy="451288"/>
          </a:xfrm>
          <a:prstGeom prst="round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2756047" y="4909393"/>
            <a:ext cx="1784423" cy="403651"/>
          </a:xfrm>
          <a:prstGeom prst="roundRect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9675404" y="3795715"/>
            <a:ext cx="1108435" cy="366508"/>
          </a:xfrm>
          <a:prstGeom prst="roundRect">
            <a:avLst/>
          </a:prstGeom>
          <a:solidFill>
            <a:schemeClr val="accent2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2694572" y="3042192"/>
            <a:ext cx="1845898" cy="378926"/>
          </a:xfrm>
          <a:prstGeom prst="roundRect">
            <a:avLst/>
          </a:prstGeom>
          <a:solidFill>
            <a:schemeClr val="accent6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10490676" y="4783592"/>
            <a:ext cx="988851" cy="378926"/>
          </a:xfrm>
          <a:prstGeom prst="roundRect">
            <a:avLst/>
          </a:prstGeom>
          <a:solidFill>
            <a:schemeClr val="accent6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2694572" y="3732679"/>
            <a:ext cx="1845898" cy="378926"/>
          </a:xfrm>
          <a:prstGeom prst="roundRect">
            <a:avLst/>
          </a:prstGeom>
          <a:solidFill>
            <a:srgbClr val="00B05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2213501" y="4515255"/>
            <a:ext cx="4146331" cy="394139"/>
          </a:xfrm>
          <a:prstGeom prst="roundRect">
            <a:avLst/>
          </a:prstGeom>
          <a:solidFill>
            <a:srgbClr val="7030A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7993581" y="3794903"/>
            <a:ext cx="960133" cy="394139"/>
          </a:xfrm>
          <a:prstGeom prst="roundRect">
            <a:avLst/>
          </a:prstGeom>
          <a:solidFill>
            <a:srgbClr val="7030A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2756047" y="5609392"/>
            <a:ext cx="1784423" cy="394139"/>
          </a:xfrm>
          <a:prstGeom prst="roundRect">
            <a:avLst/>
          </a:prstGeom>
          <a:solidFill>
            <a:srgbClr val="00B0F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2213500" y="2669390"/>
            <a:ext cx="4146331" cy="394139"/>
          </a:xfrm>
          <a:prstGeom prst="roundRect">
            <a:avLst/>
          </a:prstGeom>
          <a:solidFill>
            <a:schemeClr val="accent2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7152214" y="4846958"/>
            <a:ext cx="960133" cy="394139"/>
          </a:xfrm>
          <a:prstGeom prst="roundRect">
            <a:avLst/>
          </a:prstGeom>
          <a:solidFill>
            <a:srgbClr val="00B0F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8284987" y="4859601"/>
            <a:ext cx="960133" cy="394139"/>
          </a:xfrm>
          <a:prstGeom prst="roundRect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9269488" y="4846957"/>
            <a:ext cx="960133" cy="394139"/>
          </a:xfrm>
          <a:prstGeom prst="roundRect">
            <a:avLst/>
          </a:prstGeom>
          <a:solidFill>
            <a:srgbClr val="00B05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9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 animBg="1"/>
      <p:bldP spid="27" grpId="0" animBg="1"/>
      <p:bldP spid="30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Coding: </a:t>
            </a:r>
            <a:r>
              <a:rPr lang="en-US" sz="3600" dirty="0"/>
              <a:t>Decision Trees</a:t>
            </a:r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2564688" y="1716189"/>
            <a:ext cx="7215024" cy="5567480"/>
            <a:chOff x="1904999" y="685800"/>
            <a:chExt cx="6934202" cy="5649686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4" t="10001" r="56006" b="7618"/>
            <a:stretch/>
          </p:blipFill>
          <p:spPr>
            <a:xfrm>
              <a:off x="1904999" y="685800"/>
              <a:ext cx="4629151" cy="5649686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139" t="10000" r="17594" b="7619"/>
            <a:stretch/>
          </p:blipFill>
          <p:spPr>
            <a:xfrm>
              <a:off x="6534150" y="685800"/>
              <a:ext cx="2305051" cy="5649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121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Algorithm: </a:t>
            </a:r>
            <a:r>
              <a:rPr lang="en-US" sz="3600" dirty="0" smtClean="0"/>
              <a:t>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Rock-Paper-Scissors: Human VS Computer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7" t="39096" r="19196" b="23164"/>
          <a:stretch/>
        </p:blipFill>
        <p:spPr>
          <a:xfrm>
            <a:off x="1885950" y="2909850"/>
            <a:ext cx="6586780" cy="25882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27415" y="5809736"/>
            <a:ext cx="74417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www.nytimes.com/interactive/science/rock-paper-scissors.html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853730" y="3603794"/>
            <a:ext cx="30991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computer guesses</a:t>
            </a:r>
          </a:p>
          <a:p>
            <a:r>
              <a:rPr lang="en-US" dirty="0"/>
              <a:t>w</a:t>
            </a:r>
            <a:r>
              <a:rPr lang="en-US" dirty="0" smtClean="0"/>
              <a:t>hat we are going to do</a:t>
            </a:r>
          </a:p>
          <a:p>
            <a:r>
              <a:rPr lang="en-US" dirty="0" smtClean="0"/>
              <a:t>next based on the patterns of </a:t>
            </a:r>
          </a:p>
          <a:p>
            <a:r>
              <a:rPr lang="en-US" dirty="0" smtClean="0"/>
              <a:t>our previous throws</a:t>
            </a:r>
          </a:p>
        </p:txBody>
      </p:sp>
    </p:spTree>
    <p:extLst>
      <p:ext uri="{BB962C8B-B14F-4D97-AF65-F5344CB8AC3E}">
        <p14:creationId xmlns:p14="http://schemas.microsoft.com/office/powerpoint/2010/main" val="185565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/>
              <a:t>Pattern Recognition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20" y="1620218"/>
            <a:ext cx="8178719" cy="47524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50211" y="6279729"/>
            <a:ext cx="2638415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0" dirty="0" smtClean="0"/>
              <a:t>bakaji bavwa bamona bana</a:t>
            </a:r>
            <a:endParaRPr lang="en-US" sz="1650" dirty="0"/>
          </a:p>
        </p:txBody>
      </p:sp>
      <p:sp>
        <p:nvSpPr>
          <p:cNvPr id="7" name="TextBox 6"/>
          <p:cNvSpPr txBox="1"/>
          <p:nvPr/>
        </p:nvSpPr>
        <p:spPr>
          <a:xfrm>
            <a:off x="6654330" y="6279729"/>
            <a:ext cx="2725041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0" dirty="0" smtClean="0"/>
              <a:t>The women saw the children</a:t>
            </a:r>
            <a:endParaRPr lang="en-US" sz="16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6705" y="6264231"/>
            <a:ext cx="0" cy="3617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62077" y="6264230"/>
            <a:ext cx="0" cy="34624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630469" y="6279729"/>
            <a:ext cx="0" cy="34624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696705" y="6625978"/>
            <a:ext cx="793376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729655" y="2033752"/>
            <a:ext cx="772511" cy="425669"/>
          </a:xfrm>
          <a:prstGeom prst="roundRect">
            <a:avLst/>
          </a:prstGeom>
          <a:solidFill>
            <a:schemeClr val="accent6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729654" y="2424961"/>
            <a:ext cx="772511" cy="425669"/>
          </a:xfrm>
          <a:prstGeom prst="roundRect">
            <a:avLst/>
          </a:prstGeom>
          <a:solidFill>
            <a:schemeClr val="accent6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8177048" y="2033751"/>
            <a:ext cx="966952" cy="425669"/>
          </a:xfrm>
          <a:prstGeom prst="roundRect">
            <a:avLst/>
          </a:prstGeom>
          <a:solidFill>
            <a:schemeClr val="accent6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8177047" y="2424960"/>
            <a:ext cx="966953" cy="425669"/>
          </a:xfrm>
          <a:prstGeom prst="roundRect">
            <a:avLst/>
          </a:prstGeom>
          <a:solidFill>
            <a:schemeClr val="accent6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7940186" y="2801043"/>
            <a:ext cx="1203814" cy="425669"/>
          </a:xfrm>
          <a:prstGeom prst="roundRect">
            <a:avLst/>
          </a:prstGeom>
          <a:solidFill>
            <a:schemeClr val="accent2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6646579" y="2424959"/>
            <a:ext cx="1203814" cy="425669"/>
          </a:xfrm>
          <a:prstGeom prst="roundRect">
            <a:avLst/>
          </a:prstGeom>
          <a:solidFill>
            <a:schemeClr val="accent2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696705" y="2416811"/>
            <a:ext cx="614054" cy="425669"/>
          </a:xfrm>
          <a:prstGeom prst="roundRect">
            <a:avLst/>
          </a:prstGeom>
          <a:solidFill>
            <a:schemeClr val="accent2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881286" y="2822269"/>
            <a:ext cx="710672" cy="425669"/>
          </a:xfrm>
          <a:prstGeom prst="roundRect">
            <a:avLst/>
          </a:prstGeom>
          <a:solidFill>
            <a:schemeClr val="accent2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7545982" y="3194649"/>
            <a:ext cx="394204" cy="425669"/>
          </a:xfrm>
          <a:prstGeom prst="round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816618" y="2040114"/>
            <a:ext cx="394204" cy="425669"/>
          </a:xfrm>
          <a:prstGeom prst="round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3375325" y="2033750"/>
            <a:ext cx="1354327" cy="425669"/>
          </a:xfrm>
          <a:prstGeom prst="round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509525" y="3181002"/>
            <a:ext cx="1371761" cy="425669"/>
          </a:xfrm>
          <a:prstGeom prst="round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513834" y="2801042"/>
            <a:ext cx="1354327" cy="425669"/>
          </a:xfrm>
          <a:prstGeom prst="round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7555776" y="2801041"/>
            <a:ext cx="394204" cy="425669"/>
          </a:xfrm>
          <a:prstGeom prst="roundRect">
            <a:avLst/>
          </a:prstGeom>
          <a:solidFill>
            <a:srgbClr val="00B05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907819" y="3582654"/>
            <a:ext cx="394204" cy="425669"/>
          </a:xfrm>
          <a:prstGeom prst="roundRect">
            <a:avLst/>
          </a:prstGeom>
          <a:solidFill>
            <a:srgbClr val="7030A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7786898" y="6203556"/>
            <a:ext cx="394204" cy="425669"/>
          </a:xfrm>
          <a:prstGeom prst="roundRect">
            <a:avLst/>
          </a:prstGeom>
          <a:solidFill>
            <a:srgbClr val="7030A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7840599" y="2410254"/>
            <a:ext cx="394204" cy="425669"/>
          </a:xfrm>
          <a:prstGeom prst="roundRect">
            <a:avLst/>
          </a:prstGeom>
          <a:solidFill>
            <a:srgbClr val="7030A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3316462" y="2424959"/>
            <a:ext cx="1413189" cy="425669"/>
          </a:xfrm>
          <a:prstGeom prst="roundRect">
            <a:avLst/>
          </a:prstGeom>
          <a:solidFill>
            <a:srgbClr val="7030A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3468097" y="3570798"/>
            <a:ext cx="1413189" cy="425669"/>
          </a:xfrm>
          <a:prstGeom prst="roundRect">
            <a:avLst/>
          </a:prstGeom>
          <a:solidFill>
            <a:srgbClr val="7030A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3277853" y="6224519"/>
            <a:ext cx="1413189" cy="425669"/>
          </a:xfrm>
          <a:prstGeom prst="roundRect">
            <a:avLst/>
          </a:prstGeom>
          <a:solidFill>
            <a:srgbClr val="7030A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/>
              <a:t>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child: </a:t>
            </a:r>
            <a:r>
              <a:rPr lang="en-US" dirty="0" err="1" smtClean="0"/>
              <a:t>muana</a:t>
            </a:r>
            <a:endParaRPr lang="en-US" dirty="0" smtClean="0"/>
          </a:p>
          <a:p>
            <a:r>
              <a:rPr lang="en-US" dirty="0" smtClean="0"/>
              <a:t>The children: bana</a:t>
            </a:r>
          </a:p>
          <a:p>
            <a:r>
              <a:rPr lang="en-US" dirty="0" smtClean="0"/>
              <a:t>The woman: </a:t>
            </a:r>
            <a:r>
              <a:rPr lang="en-US" dirty="0" err="1" smtClean="0"/>
              <a:t>mukaji</a:t>
            </a:r>
            <a:endParaRPr lang="en-US" dirty="0" smtClean="0"/>
          </a:p>
          <a:p>
            <a:r>
              <a:rPr lang="en-US" dirty="0" smtClean="0"/>
              <a:t>The women: bakaji</a:t>
            </a:r>
          </a:p>
          <a:p>
            <a:r>
              <a:rPr lang="en-US" dirty="0" smtClean="0"/>
              <a:t>The man: </a:t>
            </a:r>
            <a:r>
              <a:rPr lang="en-US" dirty="0" err="1" smtClean="0"/>
              <a:t>muluma</a:t>
            </a:r>
            <a:endParaRPr lang="en-US" dirty="0" smtClean="0"/>
          </a:p>
          <a:p>
            <a:r>
              <a:rPr lang="en-US" dirty="0" smtClean="0"/>
              <a:t>The men: </a:t>
            </a:r>
            <a:r>
              <a:rPr lang="en-US" dirty="0" err="1" smtClean="0"/>
              <a:t>baluma</a:t>
            </a:r>
            <a:endParaRPr lang="en-US" dirty="0" smtClean="0"/>
          </a:p>
          <a:p>
            <a:r>
              <a:rPr lang="en-US" dirty="0" smtClean="0"/>
              <a:t>The lion: </a:t>
            </a:r>
            <a:r>
              <a:rPr lang="en-US" dirty="0" err="1" smtClean="0"/>
              <a:t>ntambwe</a:t>
            </a:r>
            <a:endParaRPr lang="en-US" dirty="0" smtClean="0"/>
          </a:p>
          <a:p>
            <a:r>
              <a:rPr lang="en-US" dirty="0" smtClean="0"/>
              <a:t>The lions: </a:t>
            </a:r>
            <a:r>
              <a:rPr lang="en-US" dirty="0" err="1" smtClean="0"/>
              <a:t>bantambwe</a:t>
            </a:r>
            <a:endParaRPr lang="en-US" dirty="0" smtClean="0"/>
          </a:p>
          <a:p>
            <a:r>
              <a:rPr lang="en-US" dirty="0" smtClean="0"/>
              <a:t>The small lions: </a:t>
            </a:r>
            <a:r>
              <a:rPr lang="en-US" dirty="0" err="1" smtClean="0"/>
              <a:t>tubantambwe</a:t>
            </a:r>
            <a:endParaRPr lang="en-US" dirty="0" smtClean="0"/>
          </a:p>
          <a:p>
            <a:r>
              <a:rPr lang="en-US" dirty="0" smtClean="0"/>
              <a:t>The small lion: </a:t>
            </a:r>
            <a:r>
              <a:rPr lang="en-US" dirty="0" err="1" smtClean="0"/>
              <a:t>kantambwe</a:t>
            </a:r>
            <a:endParaRPr lang="en-US" dirty="0" smtClean="0"/>
          </a:p>
          <a:p>
            <a:r>
              <a:rPr lang="en-US" dirty="0" smtClean="0"/>
              <a:t>Saw: </a:t>
            </a:r>
            <a:r>
              <a:rPr lang="en-US" dirty="0" err="1" smtClean="0"/>
              <a:t>mumona</a:t>
            </a:r>
            <a:r>
              <a:rPr lang="en-US" dirty="0" smtClean="0"/>
              <a:t>/</a:t>
            </a:r>
            <a:r>
              <a:rPr lang="en-US" dirty="0" err="1" smtClean="0"/>
              <a:t>bamona</a:t>
            </a:r>
            <a:r>
              <a:rPr lang="en-US" dirty="0" smtClean="0"/>
              <a:t>/</a:t>
            </a:r>
            <a:r>
              <a:rPr lang="en-US" dirty="0" err="1" smtClean="0"/>
              <a:t>tumona</a:t>
            </a:r>
            <a:r>
              <a:rPr lang="en-US" dirty="0" smtClean="0"/>
              <a:t>/</a:t>
            </a:r>
            <a:r>
              <a:rPr lang="en-US" dirty="0" err="1" smtClean="0"/>
              <a:t>kamona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Programming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story using scratch</a:t>
            </a:r>
          </a:p>
          <a:p>
            <a:pPr lvl="1"/>
            <a:r>
              <a:rPr lang="en-US" dirty="0" smtClean="0"/>
              <a:t>Choose Your Own Adventure story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04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</p:sp>
      <p:grpSp>
        <p:nvGrpSpPr>
          <p:cNvPr id="10" name="Group 9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2" name="Freeform 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522" y="1480930"/>
            <a:ext cx="6673440" cy="32543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cap="all" dirty="0"/>
              <a:t>ALGORITHM: </a:t>
            </a:r>
            <a:r>
              <a:rPr lang="en-US" sz="6600" cap="all" dirty="0" smtClean="0"/>
              <a:t>Divide </a:t>
            </a:r>
            <a:r>
              <a:rPr lang="en-US" sz="6600" cap="all" smtClean="0"/>
              <a:t>and conquer</a:t>
            </a:r>
            <a:endParaRPr lang="en-US" sz="6600" cap="all" dirty="0"/>
          </a:p>
        </p:txBody>
      </p:sp>
    </p:spTree>
    <p:extLst>
      <p:ext uri="{BB962C8B-B14F-4D97-AF65-F5344CB8AC3E}">
        <p14:creationId xmlns:p14="http://schemas.microsoft.com/office/powerpoint/2010/main" val="949712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Divide et </a:t>
            </a:r>
            <a:r>
              <a:rPr lang="en-US" sz="3600" dirty="0"/>
              <a:t>I</a:t>
            </a:r>
            <a:r>
              <a:rPr lang="en-US" sz="3600" dirty="0" smtClean="0"/>
              <a:t>mpera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Divide and Conquer</a:t>
            </a:r>
          </a:p>
          <a:p>
            <a:pPr lvl="1"/>
            <a:r>
              <a:rPr lang="en-US" b="1" u="sng" dirty="0" smtClean="0"/>
              <a:t>Break</a:t>
            </a:r>
            <a:r>
              <a:rPr lang="en-US" dirty="0" smtClean="0"/>
              <a:t> the problem to similar but smaller pieces</a:t>
            </a:r>
          </a:p>
          <a:p>
            <a:pPr lvl="1"/>
            <a:r>
              <a:rPr lang="en-US" b="1" u="sng" dirty="0" smtClean="0"/>
              <a:t>Solve</a:t>
            </a:r>
            <a:r>
              <a:rPr lang="en-US" dirty="0" smtClean="0"/>
              <a:t> the smaller problems</a:t>
            </a:r>
          </a:p>
          <a:p>
            <a:pPr lvl="1"/>
            <a:r>
              <a:rPr lang="en-US" dirty="0" smtClean="0"/>
              <a:t>Iteratively </a:t>
            </a:r>
            <a:r>
              <a:rPr lang="en-US" b="1" u="sng" dirty="0" smtClean="0"/>
              <a:t>merge</a:t>
            </a:r>
            <a:r>
              <a:rPr lang="en-US" dirty="0" smtClean="0"/>
              <a:t> the solutions of smaller problems to get the solution of the bigger problems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0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Sorting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We sort things all the time!</a:t>
            </a:r>
          </a:p>
          <a:p>
            <a:pPr lvl="1"/>
            <a:r>
              <a:rPr lang="en-US" dirty="0" smtClean="0"/>
              <a:t>Packing, moving, </a:t>
            </a:r>
            <a:r>
              <a:rPr lang="is-IS" dirty="0" smtClean="0"/>
              <a:t>...</a:t>
            </a:r>
          </a:p>
          <a:p>
            <a:pPr lvl="1"/>
            <a:r>
              <a:rPr lang="is-IS" dirty="0" smtClean="0"/>
              <a:t>How can we teach computers how to sort things?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3165628" y="3938326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165189" y="4558527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624178" y="4189751"/>
            <a:ext cx="699114" cy="219555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60742" y="6379780"/>
            <a:ext cx="4386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sambosma.blogspot.com</a:t>
            </a:r>
            <a:r>
              <a:rPr lang="en-US" dirty="0"/>
              <a:t>/2009/07/</a:t>
            </a:r>
          </a:p>
        </p:txBody>
      </p:sp>
    </p:spTree>
    <p:extLst>
      <p:ext uri="{BB962C8B-B14F-4D97-AF65-F5344CB8AC3E}">
        <p14:creationId xmlns:p14="http://schemas.microsoft.com/office/powerpoint/2010/main" val="100385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Selection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heights to be sorted:</a:t>
            </a:r>
          </a:p>
          <a:p>
            <a:pPr lvl="1"/>
            <a:r>
              <a:rPr lang="en-US" i="0" dirty="0" smtClean="0"/>
              <a:t>Select the shortest from the set and put it to one side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575811" y="4951392"/>
            <a:ext cx="739311" cy="19010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358891" y="4699318"/>
            <a:ext cx="885550" cy="20945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7310800" y="5244481"/>
            <a:ext cx="539346" cy="15493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8424768" y="4849639"/>
            <a:ext cx="774784" cy="19923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9175484" y="5116486"/>
            <a:ext cx="540087" cy="17308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9732984" y="5461922"/>
            <a:ext cx="764711" cy="13960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10401323" y="4541378"/>
            <a:ext cx="1142954" cy="22365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11227122" y="5549319"/>
            <a:ext cx="385048" cy="111602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11685169" y="5489529"/>
            <a:ext cx="351261" cy="11758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7780136" y="4928086"/>
            <a:ext cx="614529" cy="1929914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5676703" y="3678055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1151147" y="3955028"/>
            <a:ext cx="351261" cy="1175812"/>
          </a:xfrm>
          <a:prstGeom prst="rect">
            <a:avLst/>
          </a:prstGeom>
        </p:spPr>
      </p:pic>
      <p:sp>
        <p:nvSpPr>
          <p:cNvPr id="16" name="Down Arrow 15"/>
          <p:cNvSpPr/>
          <p:nvPr/>
        </p:nvSpPr>
        <p:spPr>
          <a:xfrm>
            <a:off x="5691754" y="3664112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1525721" y="4023626"/>
            <a:ext cx="385048" cy="1116021"/>
          </a:xfrm>
          <a:prstGeom prst="rect">
            <a:avLst/>
          </a:prstGeom>
        </p:spPr>
      </p:pic>
      <p:sp>
        <p:nvSpPr>
          <p:cNvPr id="18" name="Down Arrow 17"/>
          <p:cNvSpPr/>
          <p:nvPr/>
        </p:nvSpPr>
        <p:spPr>
          <a:xfrm>
            <a:off x="5693382" y="3676480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1839827" y="3844895"/>
            <a:ext cx="764711" cy="1396077"/>
          </a:xfrm>
          <a:prstGeom prst="rect">
            <a:avLst/>
          </a:prstGeom>
        </p:spPr>
      </p:pic>
      <p:sp>
        <p:nvSpPr>
          <p:cNvPr id="20" name="Down Arrow 19"/>
          <p:cNvSpPr/>
          <p:nvPr/>
        </p:nvSpPr>
        <p:spPr>
          <a:xfrm>
            <a:off x="5697514" y="3658736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526914" y="3476404"/>
            <a:ext cx="540087" cy="1730809"/>
          </a:xfrm>
          <a:prstGeom prst="rect">
            <a:avLst/>
          </a:prstGeom>
        </p:spPr>
      </p:pic>
      <p:sp>
        <p:nvSpPr>
          <p:cNvPr id="22" name="Down Arrow 21"/>
          <p:cNvSpPr/>
          <p:nvPr/>
        </p:nvSpPr>
        <p:spPr>
          <a:xfrm>
            <a:off x="5685780" y="3636391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951010" y="3567129"/>
            <a:ext cx="539346" cy="1549357"/>
          </a:xfrm>
          <a:prstGeom prst="rect">
            <a:avLst/>
          </a:prstGeom>
        </p:spPr>
      </p:pic>
      <p:sp>
        <p:nvSpPr>
          <p:cNvPr id="24" name="Down Arrow 23"/>
          <p:cNvSpPr/>
          <p:nvPr/>
        </p:nvSpPr>
        <p:spPr>
          <a:xfrm>
            <a:off x="5712565" y="3627303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370812" y="3147344"/>
            <a:ext cx="774784" cy="1992303"/>
          </a:xfrm>
          <a:prstGeom prst="rect">
            <a:avLst/>
          </a:prstGeom>
        </p:spPr>
      </p:pic>
      <p:sp>
        <p:nvSpPr>
          <p:cNvPr id="26" name="Down Arrow 25"/>
          <p:cNvSpPr/>
          <p:nvPr/>
        </p:nvSpPr>
        <p:spPr>
          <a:xfrm>
            <a:off x="5696026" y="3628577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846185" y="3200926"/>
            <a:ext cx="614529" cy="1929914"/>
          </a:xfrm>
          <a:prstGeom prst="rect">
            <a:avLst/>
          </a:prstGeom>
        </p:spPr>
      </p:pic>
      <p:sp>
        <p:nvSpPr>
          <p:cNvPr id="28" name="Down Arrow 27"/>
          <p:cNvSpPr/>
          <p:nvPr/>
        </p:nvSpPr>
        <p:spPr>
          <a:xfrm>
            <a:off x="5685780" y="3643856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4366049" y="3180329"/>
            <a:ext cx="739311" cy="1901086"/>
          </a:xfrm>
          <a:prstGeom prst="rect">
            <a:avLst/>
          </a:prstGeom>
        </p:spPr>
      </p:pic>
      <p:sp>
        <p:nvSpPr>
          <p:cNvPr id="30" name="Down Arrow 29"/>
          <p:cNvSpPr/>
          <p:nvPr/>
        </p:nvSpPr>
        <p:spPr>
          <a:xfrm>
            <a:off x="6668401" y="3643856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4828695" y="2941083"/>
            <a:ext cx="885550" cy="2094520"/>
          </a:xfrm>
          <a:prstGeom prst="rect">
            <a:avLst/>
          </a:prstGeom>
        </p:spPr>
      </p:pic>
      <p:sp>
        <p:nvSpPr>
          <p:cNvPr id="32" name="Down Arrow 31"/>
          <p:cNvSpPr/>
          <p:nvPr/>
        </p:nvSpPr>
        <p:spPr>
          <a:xfrm>
            <a:off x="10669011" y="3885582"/>
            <a:ext cx="374235" cy="69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5350026" y="2844843"/>
            <a:ext cx="1142954" cy="22365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525721" y="5461922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159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96296E-6 L 0.49258 0.0094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22" y="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6 L 0.45313 0.0025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56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44444E-6 L 0.3474 0.0046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70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0.28568 0.00208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8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48148E-6 L 0.14089 0.00555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44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7037E-7 L 0.23881 0.00556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40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11111E-6 L 0.1888 0.0044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0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 animBg="1"/>
      <p:bldP spid="14" grpId="2" animBg="1"/>
      <p:bldP spid="16" grpId="0" animBg="1"/>
      <p:bldP spid="16" grpId="1" animBg="1"/>
      <p:bldP spid="16" grpId="2" animBg="1"/>
      <p:bldP spid="18" grpId="0" animBg="1"/>
      <p:bldP spid="18" grpId="1" animBg="1"/>
      <p:bldP spid="18" grpId="2" animBg="1"/>
      <p:bldP spid="20" grpId="0" animBg="1"/>
      <p:bldP spid="20" grpId="1" animBg="1"/>
      <p:bldP spid="20" grpId="2" animBg="1"/>
      <p:bldP spid="22" grpId="0" animBg="1"/>
      <p:bldP spid="22" grpId="1" animBg="1"/>
      <p:bldP spid="22" grpId="2" animBg="1"/>
      <p:bldP spid="24" grpId="0" animBg="1"/>
      <p:bldP spid="24" grpId="1" animBg="1"/>
      <p:bldP spid="24" grpId="2" animBg="1"/>
      <p:bldP spid="26" grpId="0" animBg="1"/>
      <p:bldP spid="26" grpId="1" animBg="1"/>
      <p:bldP spid="26" grpId="2" animBg="1"/>
      <p:bldP spid="28" grpId="0" animBg="1"/>
      <p:bldP spid="28" grpId="1" animBg="1"/>
      <p:bldP spid="30" grpId="0" animBg="1"/>
      <p:bldP spid="30" grpId="1" animBg="1"/>
      <p:bldP spid="32" grpId="0" animBg="1"/>
      <p:bldP spid="32" grpId="1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3165628" y="3938326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165189" y="455852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624178" y="4189751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688336" y="6528816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449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3165628" y="3938326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165189" y="455852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624178" y="4189751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417170" y="6547104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511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3743132" y="39463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624178" y="4189751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417170" y="6547104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873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3743132" y="39463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624178" y="4189751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039743" y="6565392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742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4404818" y="3973752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039743" y="6565392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47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4404818" y="3973752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808753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031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5152243" y="3986430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808753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538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5152243" y="3986430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426268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6656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5736705" y="394426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426268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987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5736705" y="394426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121212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292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121212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987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944172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568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474524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003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711454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474524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4167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711454" y="3760834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8059740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92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8059740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466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156747" y="4542639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55052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06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3007361" y="41976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55052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023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3007361" y="4197625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706900" y="422565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31708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03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3758690" y="4214518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31708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1719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3758690" y="4214518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426792" y="4121451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944940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56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4562898" y="4189307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944940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6726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4562898" y="4189307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5250369" y="4408232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786188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87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188499" y="4142497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786188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39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188499" y="4142497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803353" y="4815020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517708" y="6583680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3244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42606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285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17587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844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50519" y="3922438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7492431" y="4974322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779378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3848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077310" y="3861140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779378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320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077310" y="3861140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026418" y="490630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36459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997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36459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5348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8114402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3570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36562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465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769804" y="4139185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040540" y="4214518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3150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606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640672" y="419423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3150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20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8100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612866" y="4425238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3640672" y="419423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98131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169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330580" y="4156553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98131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212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5159603" y="4837091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330580" y="4156553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731122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007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731122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258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33462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032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5903648" y="4162509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6727621" y="4996393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06614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6180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474868" y="4177176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06614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060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474868" y="4177176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7242240" y="494714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651362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3932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651362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271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21829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341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800467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2649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36562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9687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000154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811503" y="4420749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3150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937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564898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3150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29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192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3564898" y="4177176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4389755" y="4821854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92645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8086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92645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9875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639682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161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990382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116935" y="4177176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38949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31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664160" y="421484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38949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32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6725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6548458" y="4947145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5664160" y="4214849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90155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684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90155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33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641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35875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322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21829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035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94981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181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370668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95423" y="4495393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1827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0945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972111" y="4584073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1827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2771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2972111" y="4584073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641070" y="4855865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4979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608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4979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361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944738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39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265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32990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5283987" y="5015167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60310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0514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928687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60310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9597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4928687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856720" y="4981156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24318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7492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24318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764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864978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0525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43190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323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21829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711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94981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343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428415" y="4538947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944848" y="4876198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9142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00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9142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989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194930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7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700414" y="4566044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57327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87158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4033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267638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87158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7120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267638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5158885" y="5001489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42022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49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62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42022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49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916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07859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869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773538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2504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340466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531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18171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004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913234" y="6601968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423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437625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808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137909" y="456604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752335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60585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8239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645602" y="453485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260585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517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645602" y="4534854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4388817" y="4991004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717785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986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717785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671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303001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688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071097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59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23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802617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6567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387833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5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229081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5349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978889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625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34122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3181312" y="5110148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06522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580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887497" y="5035333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506522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924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2887497" y="5035333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3713530" y="5042127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036874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0322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036874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17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585514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408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353610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3404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030266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6342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853226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69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493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383578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4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169962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507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938058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6171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501228" y="5194635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916406" y="5109231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335771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29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335771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685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866123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917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524491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8404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310875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686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042395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713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883643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696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395707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79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5303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218667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09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913611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4354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131876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085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2899972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2985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3485188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182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4271572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300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112820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327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5862628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715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6374692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5887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7179364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89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4003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there is still some change:</a:t>
            </a:r>
          </a:p>
          <a:p>
            <a:pPr lvl="1"/>
            <a:r>
              <a:rPr lang="en-US" i="0" dirty="0" smtClean="0"/>
              <a:t>Go through the list and swap side-by-side objects that are in the wrong order of heights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947583" y="4165902"/>
            <a:ext cx="841071" cy="21627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531432" y="3901985"/>
            <a:ext cx="1007439" cy="238281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853205" y="4617167"/>
            <a:ext cx="613583" cy="176261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533871" y="4197907"/>
            <a:ext cx="881427" cy="22665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177304" y="4539426"/>
            <a:ext cx="614426" cy="196904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90064" y="5001489"/>
            <a:ext cx="869967" cy="158823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77877" y="3784239"/>
            <a:ext cx="1300272" cy="254441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720251" y="5155236"/>
            <a:ext cx="438047" cy="12696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35771" y="5149860"/>
            <a:ext cx="399609" cy="133765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1196" y="4212740"/>
            <a:ext cx="699114" cy="2195551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8075476" y="6589725"/>
            <a:ext cx="1207008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90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022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3165628" y="3938326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165189" y="4558527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624178" y="4189751"/>
            <a:ext cx="699114" cy="2195551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5448450" y="3803866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5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2402677" y="4217025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3165628" y="3938326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165189" y="4558527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6029772" y="4405556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6556354" y="4797066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8102749" y="4923011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8565447" y="4854990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4624178" y="4189751"/>
            <a:ext cx="699114" cy="2195551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5448450" y="3803866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9</a:t>
            </a:r>
            <a:endParaRPr lang="en-US" b="1" dirty="0"/>
          </a:p>
        </p:txBody>
      </p:sp>
      <p:sp>
        <p:nvSpPr>
          <p:cNvPr id="16" name="Up Arrow 15"/>
          <p:cNvSpPr/>
          <p:nvPr/>
        </p:nvSpPr>
        <p:spPr>
          <a:xfrm>
            <a:off x="2596896" y="6379780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 Arrow 16"/>
          <p:cNvSpPr/>
          <p:nvPr/>
        </p:nvSpPr>
        <p:spPr>
          <a:xfrm>
            <a:off x="3484673" y="6394292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Up Arrow 17"/>
          <p:cNvSpPr/>
          <p:nvPr/>
        </p:nvSpPr>
        <p:spPr>
          <a:xfrm>
            <a:off x="4343572" y="6379780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920453" y="6425508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Up Arrow 19"/>
          <p:cNvSpPr/>
          <p:nvPr/>
        </p:nvSpPr>
        <p:spPr>
          <a:xfrm>
            <a:off x="6224052" y="6369244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>
            <a:off x="6870985" y="6377273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Up Arrow 21"/>
          <p:cNvSpPr/>
          <p:nvPr/>
        </p:nvSpPr>
        <p:spPr>
          <a:xfrm>
            <a:off x="7638716" y="6385302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8254551" y="6394292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Up Arrow 23"/>
          <p:cNvSpPr/>
          <p:nvPr/>
        </p:nvSpPr>
        <p:spPr>
          <a:xfrm>
            <a:off x="8755061" y="6379780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51 -0.02037 L 0.53346 -0.03101 " pathEditMode="relative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 0.02546 L 0.50612 -0.0011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495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1 -0.01088 L 0.44206 -0.016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36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1 0.01111 L -0.27031 0.01111 " pathEditMode="relative" ptsTypes="AA"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24 -0.01829 L -0.25209 -0.01829 " pathEditMode="relative" ptsTypes="AA">
                                      <p:cBhvr>
                                        <p:cTn id="5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24 0.00833 L -0.2694 0.01365 " pathEditMode="relative" ptsTypes="AA">
                                      <p:cBhvr>
                                        <p:cTn id="7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2 0.01875 L -0.53203 0.0213 " pathEditMode="relative" ptsTypes="AA">
                                      <p:cBhvr>
                                        <p:cTn id="8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044043" y="4177811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497511" y="3957752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165189" y="4558527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246751" y="4102717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020948" y="4473093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515824" y="4825482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172631" y="3760834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776583" y="4984784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639203" y="4946579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7954809" y="4203959"/>
            <a:ext cx="699114" cy="2195551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5448450" y="3803866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9</a:t>
            </a:r>
            <a:endParaRPr lang="en-US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2340864" y="4102717"/>
            <a:ext cx="2905887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6044043" y="4018639"/>
            <a:ext cx="2905887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7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263499" y="4324115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6716967" y="4104056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981788" y="4501545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157271" y="4121042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2728340" y="4473093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223216" y="4825482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7392087" y="3907138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4483975" y="4984784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346595" y="4946579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8174265" y="4350263"/>
            <a:ext cx="699114" cy="21955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16</a:t>
            </a:r>
            <a:endParaRPr lang="en-US" b="1" dirty="0"/>
          </a:p>
        </p:txBody>
      </p:sp>
      <p:sp>
        <p:nvSpPr>
          <p:cNvPr id="16" name="Down Arrow 15"/>
          <p:cNvSpPr/>
          <p:nvPr/>
        </p:nvSpPr>
        <p:spPr>
          <a:xfrm>
            <a:off x="3482316" y="4267823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7140271" y="3878722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044" y="3863367"/>
            <a:ext cx="516404" cy="516404"/>
          </a:xfrm>
          <a:prstGeom prst="rect">
            <a:avLst/>
          </a:prstGeom>
        </p:spPr>
      </p:pic>
      <p:sp>
        <p:nvSpPr>
          <p:cNvPr id="19" name="Up Arrow 18"/>
          <p:cNvSpPr/>
          <p:nvPr/>
        </p:nvSpPr>
        <p:spPr>
          <a:xfrm>
            <a:off x="2466280" y="6363287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Up Arrow 19"/>
          <p:cNvSpPr/>
          <p:nvPr/>
        </p:nvSpPr>
        <p:spPr>
          <a:xfrm>
            <a:off x="2964160" y="6374295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>
            <a:off x="4173079" y="6379780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Up Arrow 21"/>
          <p:cNvSpPr/>
          <p:nvPr/>
        </p:nvSpPr>
        <p:spPr>
          <a:xfrm>
            <a:off x="4563871" y="6399510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6417115" y="6517830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Up Arrow 23"/>
          <p:cNvSpPr/>
          <p:nvPr/>
        </p:nvSpPr>
        <p:spPr>
          <a:xfrm>
            <a:off x="7886775" y="6545814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Up Arrow 24"/>
          <p:cNvSpPr/>
          <p:nvPr/>
        </p:nvSpPr>
        <p:spPr>
          <a:xfrm>
            <a:off x="8471520" y="6551375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2048255" y="4102717"/>
            <a:ext cx="3220825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5976124" y="4052910"/>
            <a:ext cx="3135330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5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0.00116 L 0.16068 -0.0062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47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0.00556 L -0.13985 0.0101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79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16 -0.01111 L -0.18906 -0.01111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885603" y="4191790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464153" y="3935810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872060" y="4501545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157271" y="4121042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389005" y="4398330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113488" y="4825482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330078" y="3796148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692740" y="4980589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236867" y="4946579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234344" y="4199030"/>
            <a:ext cx="699114" cy="21955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16</a:t>
            </a:r>
            <a:endParaRPr lang="en-US" b="1" dirty="0"/>
          </a:p>
        </p:txBody>
      </p:sp>
      <p:sp>
        <p:nvSpPr>
          <p:cNvPr id="16" name="Down Arrow 15"/>
          <p:cNvSpPr/>
          <p:nvPr/>
        </p:nvSpPr>
        <p:spPr>
          <a:xfrm>
            <a:off x="3372588" y="4267823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7933010" y="3637639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044" y="3863367"/>
            <a:ext cx="516404" cy="51640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126945" y="4102717"/>
            <a:ext cx="1049401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3872058" y="4102717"/>
            <a:ext cx="1418229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026747" y="4102717"/>
            <a:ext cx="1437406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 flipH="1">
            <a:off x="8450696" y="4102717"/>
            <a:ext cx="886821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4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849027" y="4191790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427577" y="3935810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3835484" y="4501545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157271" y="4121042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4352429" y="4398330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076912" y="4825482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93502" y="3796148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656164" y="4980589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200291" y="4946579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034023" y="4218167"/>
            <a:ext cx="699114" cy="21955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19</a:t>
            </a:r>
            <a:endParaRPr lang="en-US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044" y="3863367"/>
            <a:ext cx="516404" cy="5164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810" y="4273881"/>
            <a:ext cx="516404" cy="51640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28" y="3607777"/>
            <a:ext cx="516404" cy="516404"/>
          </a:xfrm>
          <a:prstGeom prst="rect">
            <a:avLst/>
          </a:prstGeom>
        </p:spPr>
      </p:pic>
      <p:sp>
        <p:nvSpPr>
          <p:cNvPr id="21" name="Down Arrow 20"/>
          <p:cNvSpPr/>
          <p:nvPr/>
        </p:nvSpPr>
        <p:spPr>
          <a:xfrm>
            <a:off x="2655894" y="4520528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4356080" y="4231427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7032839" y="3715627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2090369" y="4102717"/>
            <a:ext cx="1049401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3835483" y="4102717"/>
            <a:ext cx="1428986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997066" y="4102717"/>
            <a:ext cx="1430511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 flipH="1">
            <a:off x="8414120" y="4102717"/>
            <a:ext cx="884491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/>
          <p:cNvSpPr/>
          <p:nvPr/>
        </p:nvSpPr>
        <p:spPr>
          <a:xfrm>
            <a:off x="2285068" y="6379780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Up Arrow 28"/>
          <p:cNvSpPr/>
          <p:nvPr/>
        </p:nvSpPr>
        <p:spPr>
          <a:xfrm>
            <a:off x="4030973" y="6387569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Up Arrow 29"/>
          <p:cNvSpPr/>
          <p:nvPr/>
        </p:nvSpPr>
        <p:spPr>
          <a:xfrm>
            <a:off x="6324738" y="6393254"/>
            <a:ext cx="310896" cy="47822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1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12 -0.01967 L 0.07019 -0.02222 " pathEditMode="relative" ptsTypes="AA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 animBg="1"/>
      <p:bldP spid="22" grpId="0" animBg="1"/>
      <p:bldP spid="23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849027" y="4191790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427577" y="3935810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548778" y="4487608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157271" y="4121042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948696" y="4417394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076912" y="4825482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93502" y="3796148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656164" y="4980589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200291" y="4946579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016925" y="4218167"/>
            <a:ext cx="699114" cy="21955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19</a:t>
            </a:r>
            <a:endParaRPr lang="en-US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044" y="3863367"/>
            <a:ext cx="516404" cy="5164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810" y="4273881"/>
            <a:ext cx="516404" cy="51640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28" y="3607777"/>
            <a:ext cx="516404" cy="516404"/>
          </a:xfrm>
          <a:prstGeom prst="rect">
            <a:avLst/>
          </a:prstGeom>
        </p:spPr>
      </p:pic>
      <p:sp>
        <p:nvSpPr>
          <p:cNvPr id="21" name="Down Arrow 20"/>
          <p:cNvSpPr/>
          <p:nvPr/>
        </p:nvSpPr>
        <p:spPr>
          <a:xfrm>
            <a:off x="2655894" y="4520528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3953489" y="4209016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7032839" y="3715627"/>
            <a:ext cx="397068" cy="483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2090369" y="4102717"/>
            <a:ext cx="535397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4509627" y="4102717"/>
            <a:ext cx="754842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997066" y="4102717"/>
            <a:ext cx="873523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436" y="3597770"/>
            <a:ext cx="516404" cy="51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849027" y="4191790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427577" y="3935810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548778" y="4487608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157271" y="4121042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948696" y="4417394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076912" y="4825482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93502" y="3796148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656164" y="4980589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200291" y="4946579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016925" y="4218167"/>
            <a:ext cx="699114" cy="21955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19</a:t>
            </a:r>
            <a:endParaRPr lang="en-US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044" y="3863367"/>
            <a:ext cx="516404" cy="5164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810" y="4273881"/>
            <a:ext cx="516404" cy="51640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28" y="3607777"/>
            <a:ext cx="516404" cy="51640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090369" y="4102717"/>
            <a:ext cx="535397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4509627" y="4102717"/>
            <a:ext cx="754842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997066" y="4102717"/>
            <a:ext cx="873523" cy="2480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131" y="4551953"/>
            <a:ext cx="516404" cy="51640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1" y="4159192"/>
            <a:ext cx="516404" cy="51640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547" y="3675341"/>
            <a:ext cx="516404" cy="51640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050" y="3597770"/>
            <a:ext cx="516404" cy="51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/>
          </a:bodyPr>
          <a:lstStyle/>
          <a:p>
            <a:r>
              <a:rPr lang="en-US" dirty="0" smtClean="0"/>
              <a:t>While the group has more than 1 object</a:t>
            </a:r>
          </a:p>
          <a:p>
            <a:pPr lvl="1"/>
            <a:r>
              <a:rPr lang="en-US" i="0" dirty="0" smtClean="0"/>
              <a:t>Pick one object at random, put objects shorter than it on its left and objects taller than it on its right</a:t>
            </a:r>
          </a:p>
          <a:p>
            <a:pPr lvl="1"/>
            <a:r>
              <a:rPr lang="en-US" i="0" dirty="0" smtClean="0"/>
              <a:t>Repeat this same procedure on the left and right groups</a:t>
            </a:r>
            <a:endParaRPr lang="en-US" i="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185" r="83443" b="7925"/>
          <a:stretch/>
        </p:blipFill>
        <p:spPr>
          <a:xfrm>
            <a:off x="6849027" y="4191790"/>
            <a:ext cx="841071" cy="2162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31" t="47705" r="65468" b="8405"/>
          <a:stretch/>
        </p:blipFill>
        <p:spPr>
          <a:xfrm>
            <a:off x="7427577" y="3935810"/>
            <a:ext cx="1007439" cy="2382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56930" r="53729" b="8861"/>
          <a:stretch/>
        </p:blipFill>
        <p:spPr>
          <a:xfrm>
            <a:off x="4548778" y="4487608"/>
            <a:ext cx="613583" cy="17626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73" t="47840" r="35870" b="8270"/>
          <a:stretch/>
        </p:blipFill>
        <p:spPr>
          <a:xfrm>
            <a:off x="5157271" y="4121042"/>
            <a:ext cx="881427" cy="2266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779" t="48819" r="21936" b="7291"/>
          <a:stretch/>
        </p:blipFill>
        <p:spPr>
          <a:xfrm>
            <a:off x="3948696" y="4417394"/>
            <a:ext cx="614426" cy="19690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71" t="18467" r="65111" b="52328"/>
          <a:stretch/>
        </p:blipFill>
        <p:spPr>
          <a:xfrm>
            <a:off x="3076912" y="4825482"/>
            <a:ext cx="869967" cy="1588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96" t="47696" r="647" b="8414"/>
          <a:stretch/>
        </p:blipFill>
        <p:spPr>
          <a:xfrm>
            <a:off x="8293502" y="3796148"/>
            <a:ext cx="1300272" cy="25444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757" t="3550" r="35554" b="52560"/>
          <a:stretch/>
        </p:blipFill>
        <p:spPr>
          <a:xfrm>
            <a:off x="2656164" y="4980589"/>
            <a:ext cx="438047" cy="1269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685" r="50658" b="54425"/>
          <a:stretch/>
        </p:blipFill>
        <p:spPr>
          <a:xfrm>
            <a:off x="2200291" y="4946579"/>
            <a:ext cx="399609" cy="13376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31" b="99742" l="2000" r="100000">
                        <a14:foregroundMark x1="58250" y1="29897" x2="58250" y2="29897"/>
                        <a14:foregroundMark x1="60000" y1="20361" x2="60000" y2="20361"/>
                        <a14:foregroundMark x1="58250" y1="13402" x2="58250" y2="13402"/>
                        <a14:foregroundMark x1="70500" y1="44072" x2="70500" y2="44072"/>
                        <a14:foregroundMark x1="74250" y1="43299" x2="74250" y2="43299"/>
                        <a14:foregroundMark x1="82750" y1="43557" x2="82750" y2="43814"/>
                        <a14:foregroundMark x1="81250" y1="44072" x2="81250" y2="44072"/>
                        <a14:foregroundMark x1="56000" y1="24742" x2="56000" y2="24742"/>
                        <a14:foregroundMark x1="50750" y1="24227" x2="50750" y2="24227"/>
                        <a14:foregroundMark x1="54750" y1="20103" x2="54750" y2="20103"/>
                        <a14:foregroundMark x1="53250" y1="26031" x2="53250" y2="26031"/>
                        <a14:foregroundMark x1="44500" y1="28093" x2="44500" y2="28093"/>
                        <a14:foregroundMark x1="47000" y1="31959" x2="47000" y2="31959"/>
                        <a14:foregroundMark x1="42750" y1="35052" x2="42750" y2="35052"/>
                        <a14:foregroundMark x1="44250" y1="42526" x2="44250" y2="42526"/>
                        <a14:foregroundMark x1="46000" y1="42010" x2="46000" y2="42010"/>
                        <a14:foregroundMark x1="48500" y1="17784" x2="48500" y2="17784"/>
                        <a14:foregroundMark x1="28500" y1="28866" x2="28500" y2="28866"/>
                        <a14:foregroundMark x1="6750" y1="62113" x2="6750" y2="62113"/>
                        <a14:foregroundMark x1="7500" y1="68557" x2="7500" y2="68557"/>
                        <a14:foregroundMark x1="25750" y1="61082" x2="25750" y2="61082"/>
                        <a14:foregroundMark x1="42750" y1="68814" x2="42750" y2="68814"/>
                        <a14:foregroundMark x1="39500" y1="80155" x2="39500" y2="80155"/>
                        <a14:foregroundMark x1="25000" y1="70361" x2="25000" y2="70361"/>
                        <a14:foregroundMark x1="59250" y1="67526" x2="59250" y2="67526"/>
                        <a14:foregroundMark x1="71000" y1="67010" x2="71000" y2="67010"/>
                        <a14:foregroundMark x1="55000" y1="88660" x2="55000" y2="88660"/>
                        <a14:foregroundMark x1="58750" y1="88402" x2="58750" y2="88402"/>
                        <a14:foregroundMark x1="86250" y1="64691" x2="86250" y2="64691"/>
                        <a14:foregroundMark x1="80500" y1="61856" x2="80500" y2="61856"/>
                        <a14:foregroundMark x1="96000" y1="60309" x2="96000" y2="60309"/>
                        <a14:foregroundMark x1="97000" y1="55412" x2="97000" y2="55412"/>
                        <a14:foregroundMark x1="96500" y1="53608" x2="96500" y2="53608"/>
                        <a14:foregroundMark x1="79500" y1="53608" x2="79500" y2="53608"/>
                        <a14:foregroundMark x1="78750" y1="55670" x2="78750" y2="55670"/>
                        <a14:foregroundMark x1="85250" y1="72680" x2="85250" y2="72680"/>
                        <a14:foregroundMark x1="89000" y1="74227" x2="89000" y2="74227"/>
                        <a14:foregroundMark x1="90250" y1="79897" x2="90250" y2="79897"/>
                        <a14:foregroundMark x1="91000" y1="83247" x2="91000" y2="83247"/>
                        <a14:foregroundMark x1="84250" y1="88144" x2="84250" y2="88144"/>
                        <a14:foregroundMark x1="83000" y1="79124" x2="83000" y2="79124"/>
                        <a14:foregroundMark x1="83000" y1="83247" x2="83000" y2="83247"/>
                        <a14:foregroundMark x1="24750" y1="64433" x2="24750" y2="64433"/>
                        <a14:foregroundMark x1="11500" y1="64433" x2="11500" y2="64433"/>
                        <a14:foregroundMark x1="29750" y1="62371" x2="29750" y2="62371"/>
                        <a14:foregroundMark x1="84500" y1="74742" x2="84500" y2="74742"/>
                        <a14:foregroundMark x1="83500" y1="77320" x2="83500" y2="77320"/>
                        <a14:foregroundMark x1="83000" y1="81186" x2="83000" y2="81186"/>
                        <a14:foregroundMark x1="83500" y1="84536" x2="83500" y2="84536"/>
                        <a14:foregroundMark x1="83750" y1="85567" x2="83750" y2="85567"/>
                        <a14:foregroundMark x1="91000" y1="85052" x2="91000" y2="85052"/>
                        <a14:foregroundMark x1="90750" y1="81701" x2="90750" y2="81701"/>
                        <a14:foregroundMark x1="89250" y1="77320" x2="89250" y2="77320"/>
                        <a14:foregroundMark x1="94000" y1="62629" x2="94000" y2="62629"/>
                        <a14:foregroundMark x1="95250" y1="62113" x2="95250" y2="62113"/>
                        <a14:foregroundMark x1="97000" y1="58505" x2="97000" y2="58505"/>
                        <a14:foregroundMark x1="22750" y1="87629" x2="22750" y2="87629"/>
                        <a14:foregroundMark x1="43000" y1="80670" x2="43000" y2="80670"/>
                        <a14:foregroundMark x1="27750" y1="32474" x2="27750" y2="32474"/>
                        <a14:foregroundMark x1="30750" y1="27577" x2="30750" y2="27577"/>
                        <a14:backgroundMark x1="60500" y1="25515" x2="60500" y2="25515"/>
                        <a14:backgroundMark x1="11750" y1="39948" x2="11750" y2="39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3" t="3093" r="23240" b="53017"/>
          <a:stretch/>
        </p:blipFill>
        <p:spPr>
          <a:xfrm>
            <a:off x="6016925" y="4218167"/>
            <a:ext cx="699114" cy="21955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7109" y="5465380"/>
            <a:ext cx="1001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/>
              <a:t>19</a:t>
            </a:r>
            <a:endParaRPr lang="en-US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044" y="3863367"/>
            <a:ext cx="516404" cy="5164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810" y="4273881"/>
            <a:ext cx="516404" cy="51640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28" y="3607777"/>
            <a:ext cx="516404" cy="51640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131" y="4551953"/>
            <a:ext cx="516404" cy="51640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1" y="4159192"/>
            <a:ext cx="516404" cy="51640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547" y="3675341"/>
            <a:ext cx="516404" cy="51640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050" y="3597770"/>
            <a:ext cx="516404" cy="51640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258" y="4686110"/>
            <a:ext cx="516404" cy="51640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52" y="3968937"/>
            <a:ext cx="516404" cy="51640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208" y="3823233"/>
            <a:ext cx="516404" cy="51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week: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Algorithm: Divide and Conquer</a:t>
            </a:r>
          </a:p>
          <a:p>
            <a:pPr lvl="1"/>
            <a:r>
              <a:rPr lang="en-US" dirty="0" smtClean="0"/>
              <a:t>Tower </a:t>
            </a:r>
            <a:r>
              <a:rPr lang="en-US" dirty="0" smtClean="0"/>
              <a:t>of Hanoi (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www.mathsisfun.com/games/towerofhanoi.html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6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12731</TotalTime>
  <Words>4292</Words>
  <Application>Microsoft Macintosh PowerPoint</Application>
  <PresentationFormat>Widescreen</PresentationFormat>
  <Paragraphs>630</Paragraphs>
  <Slides>149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2" baseType="lpstr">
      <vt:lpstr>Calibri</vt:lpstr>
      <vt:lpstr>Franklin Gothic Book</vt:lpstr>
      <vt:lpstr>Crop</vt:lpstr>
      <vt:lpstr>Computer programming</vt:lpstr>
      <vt:lpstr>Recap: What is computer programming?</vt:lpstr>
      <vt:lpstr>Coding</vt:lpstr>
      <vt:lpstr>Coding: Decision Trees</vt:lpstr>
      <vt:lpstr>Coding: Decision Trees</vt:lpstr>
      <vt:lpstr>Algorithm: Pattern Recognition</vt:lpstr>
      <vt:lpstr>Algorithm: Pattern Recognition</vt:lpstr>
      <vt:lpstr>Algorithm: Pattern Recognition</vt:lpstr>
      <vt:lpstr>More Programming Exercise</vt:lpstr>
      <vt:lpstr>ALGORITHM: Divide and conquer</vt:lpstr>
      <vt:lpstr>Algorithm: Divide et Impera</vt:lpstr>
      <vt:lpstr>Algorithm: Sorting</vt:lpstr>
      <vt:lpstr>Algorithm: Selection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Bubble sort</vt:lpstr>
      <vt:lpstr>Algorithm: Quick Sort</vt:lpstr>
      <vt:lpstr>Algorithm: Quick Sort</vt:lpstr>
      <vt:lpstr>Algorithm: Quick Sort</vt:lpstr>
      <vt:lpstr>Algorithm: Quick Sort</vt:lpstr>
      <vt:lpstr>Algorithm: Quick Sort</vt:lpstr>
      <vt:lpstr>Algorithm: Quick Sort</vt:lpstr>
      <vt:lpstr>Algorithm: Quick Sort</vt:lpstr>
      <vt:lpstr>Algorithm: Quick Sort</vt:lpstr>
      <vt:lpstr>Algorithm: Quick Sort</vt:lpstr>
      <vt:lpstr>Next week:</vt:lpstr>
      <vt:lpstr>Questions?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programming</dc:title>
  <dc:creator>Wijaya, Derry</dc:creator>
  <cp:lastModifiedBy>Wijaya, Derry</cp:lastModifiedBy>
  <cp:revision>93</cp:revision>
  <dcterms:created xsi:type="dcterms:W3CDTF">2017-07-28T17:08:11Z</dcterms:created>
  <dcterms:modified xsi:type="dcterms:W3CDTF">2017-08-13T13:00:40Z</dcterms:modified>
</cp:coreProperties>
</file>