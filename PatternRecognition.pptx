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6" r:id="rId5"/>
    <p:sldId id="283" r:id="rId6"/>
    <p:sldId id="285" r:id="rId7"/>
    <p:sldId id="286" r:id="rId8"/>
    <p:sldId id="284" r:id="rId9"/>
    <p:sldId id="28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9"/>
    <p:restoredTop sz="94606"/>
  </p:normalViewPr>
  <p:slideViewPr>
    <p:cSldViewPr snapToGrid="0" snapToObjects="1">
      <p:cViewPr>
        <p:scale>
          <a:sx n="45" d="100"/>
          <a:sy n="45" d="100"/>
        </p:scale>
        <p:origin x="148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A246B-AED6-3443-95E2-7ACACBAADE36}" type="datetimeFigureOut">
              <a:rPr lang="en-US" smtClean="0"/>
              <a:t>8/4/17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02524-0620-034E-8A54-68367717D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0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8/4/17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8/4/17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ratch.mit.edu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www.nytimes.com/interactive/science/rock-paper-scissors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thsisfun.com/games/towerofhanoi.html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II.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6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Recap: </a:t>
            </a:r>
            <a:r>
              <a:rPr lang="en-US" sz="3600" dirty="0" smtClean="0"/>
              <a:t>What </a:t>
            </a:r>
            <a:r>
              <a:rPr lang="en-US" sz="3600" dirty="0" smtClean="0"/>
              <a:t>is computer programming?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Telling computers to solve a problem 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US" dirty="0" smtClean="0"/>
              <a:t>Think about the problem and generate a solution (</a:t>
            </a:r>
            <a:r>
              <a:rPr lang="en-US" sz="2400" b="1" u="sng" dirty="0" smtClean="0"/>
              <a:t>algorithm</a:t>
            </a:r>
            <a:r>
              <a:rPr lang="en-US" dirty="0" smtClean="0"/>
              <a:t>)</a:t>
            </a:r>
          </a:p>
          <a:p>
            <a:pPr lvl="2"/>
            <a:r>
              <a:rPr lang="is-IS" dirty="0" smtClean="0"/>
              <a:t>Break down the problem into step by step solution</a:t>
            </a:r>
            <a:endParaRPr lang="en-US" dirty="0" smtClean="0"/>
          </a:p>
          <a:p>
            <a:pPr marL="987552" lvl="1" indent="-457200">
              <a:buFont typeface="+mj-lt"/>
              <a:buAutoNum type="arabicPeriod"/>
            </a:pPr>
            <a:r>
              <a:rPr lang="en-US" dirty="0" smtClean="0"/>
              <a:t>Write </a:t>
            </a:r>
            <a:r>
              <a:rPr lang="en-US" dirty="0" smtClean="0"/>
              <a:t>the solution in a language that computer can understand (</a:t>
            </a:r>
            <a:r>
              <a:rPr lang="en-US" sz="2400" b="1" u="sng" dirty="0" smtClean="0"/>
              <a:t>coding</a:t>
            </a:r>
            <a:r>
              <a:rPr lang="en-US" dirty="0" smtClean="0"/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45" r="19697" b="19751"/>
          <a:stretch/>
        </p:blipFill>
        <p:spPr>
          <a:xfrm>
            <a:off x="2683933" y="4622799"/>
            <a:ext cx="6976533" cy="16764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7364" y="4088883"/>
            <a:ext cx="4409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Algorithm for going to school in </a:t>
            </a:r>
            <a:r>
              <a:rPr lang="en-US" smtClean="0"/>
              <a:t>the morning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the step by step instruction </a:t>
            </a:r>
            <a:br>
              <a:rPr lang="en-US" dirty="0" smtClean="0"/>
            </a:br>
            <a:r>
              <a:rPr lang="en-US" dirty="0" smtClean="0"/>
              <a:t>in a programming language </a:t>
            </a:r>
          </a:p>
          <a:p>
            <a:r>
              <a:rPr lang="en-US" dirty="0" smtClean="0"/>
              <a:t>Scratch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scratch.mit.edu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2" b="98177" l="2918" r="96552">
                        <a14:foregroundMark x1="31300" y1="14586" x2="31300" y2="14586"/>
                        <a14:foregroundMark x1="35279" y1="14306" x2="35279" y2="14306"/>
                        <a14:foregroundMark x1="95491" y1="87938" x2="95491" y2="87938"/>
                        <a14:foregroundMark x1="61804" y1="71388" x2="61804" y2="71388"/>
                        <a14:foregroundMark x1="53846" y1="72651" x2="53846" y2="72651"/>
                        <a14:foregroundMark x1="65252" y1="72370" x2="65252" y2="72370"/>
                        <a14:foregroundMark x1="69231" y1="71950" x2="69231" y2="71950"/>
                        <a14:foregroundMark x1="55172" y1="70266" x2="55172" y2="70266"/>
                        <a14:foregroundMark x1="96552" y1="98177" x2="96552" y2="981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67" y="243615"/>
            <a:ext cx="3407833" cy="64450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0546" y="1437733"/>
            <a:ext cx="111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repetition</a:t>
            </a:r>
            <a:endParaRPr lang="en-US" dirty="0"/>
          </a:p>
        </p:txBody>
      </p:sp>
      <p:sp>
        <p:nvSpPr>
          <p:cNvPr id="6" name="Left Brace 5"/>
          <p:cNvSpPr/>
          <p:nvPr/>
        </p:nvSpPr>
        <p:spPr>
          <a:xfrm>
            <a:off x="8517467" y="999067"/>
            <a:ext cx="312419" cy="128693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8517467" y="2455334"/>
            <a:ext cx="312419" cy="20658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21972" y="3281475"/>
            <a:ext cx="130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sequencing</a:t>
            </a:r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>
            <a:off x="8525086" y="4622801"/>
            <a:ext cx="259081" cy="18723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02625" y="5354135"/>
            <a:ext cx="1258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  <a:r>
              <a:rPr lang="en-US" dirty="0" smtClean="0"/>
              <a:t>onditional</a:t>
            </a:r>
          </a:p>
          <a:p>
            <a:pPr algn="ctr"/>
            <a:r>
              <a:rPr lang="en-US" dirty="0" smtClean="0"/>
              <a:t>logic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58690" y="6380890"/>
            <a:ext cx="87611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https://www.tynker.com/blog/articles/ideas-and-tips/how-to-explain-algorithms-to-kids/</a:t>
            </a:r>
          </a:p>
        </p:txBody>
      </p:sp>
    </p:spTree>
    <p:extLst>
      <p:ext uri="{BB962C8B-B14F-4D97-AF65-F5344CB8AC3E}">
        <p14:creationId xmlns:p14="http://schemas.microsoft.com/office/powerpoint/2010/main" val="45707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 smtClean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Twenty questions</a:t>
            </a:r>
          </a:p>
          <a:p>
            <a:pPr lvl="1"/>
            <a:r>
              <a:rPr lang="en-US" dirty="0" smtClean="0"/>
              <a:t>A number between 1 and 100</a:t>
            </a:r>
          </a:p>
          <a:p>
            <a:pPr lvl="1"/>
            <a:r>
              <a:rPr lang="en-US" dirty="0" smtClean="0"/>
              <a:t>A number between 1 and 1000</a:t>
            </a:r>
          </a:p>
          <a:p>
            <a:pPr lvl="1"/>
            <a:r>
              <a:rPr lang="en-US" dirty="0" smtClean="0"/>
              <a:t>How many guesses do you need?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8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Guess a number between 0 and 7 (3 questions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057577" y="3014990"/>
            <a:ext cx="5381885" cy="2336498"/>
            <a:chOff x="3057577" y="3021572"/>
            <a:chExt cx="6489266" cy="311129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577" y="3021572"/>
              <a:ext cx="6489266" cy="3111292"/>
            </a:xfrm>
            <a:prstGeom prst="rect">
              <a:avLst/>
            </a:prstGeom>
          </p:spPr>
        </p:pic>
        <p:sp useBgFill="1">
          <p:nvSpPr>
            <p:cNvPr id="9" name="TextBox 8"/>
            <p:cNvSpPr txBox="1"/>
            <p:nvPr/>
          </p:nvSpPr>
          <p:spPr>
            <a:xfrm>
              <a:off x="5947370" y="3061494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3 ?</a:t>
              </a:r>
              <a:endParaRPr lang="en-US" sz="1600" b="1" dirty="0"/>
            </a:p>
          </p:txBody>
        </p:sp>
        <p:sp useBgFill="1">
          <p:nvSpPr>
            <p:cNvPr id="10" name="TextBox 9"/>
            <p:cNvSpPr txBox="1"/>
            <p:nvPr/>
          </p:nvSpPr>
          <p:spPr>
            <a:xfrm>
              <a:off x="4546182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1 ?</a:t>
              </a:r>
              <a:endParaRPr lang="en-US" sz="1600" b="1" dirty="0"/>
            </a:p>
          </p:txBody>
        </p:sp>
        <p:sp useBgFill="1">
          <p:nvSpPr>
            <p:cNvPr id="11" name="TextBox 10"/>
            <p:cNvSpPr txBox="1"/>
            <p:nvPr/>
          </p:nvSpPr>
          <p:spPr>
            <a:xfrm>
              <a:off x="3504782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0 ?</a:t>
              </a:r>
              <a:endParaRPr lang="en-US" sz="1600" b="1" dirty="0"/>
            </a:p>
          </p:txBody>
        </p:sp>
        <p:sp useBgFill="1">
          <p:nvSpPr>
            <p:cNvPr id="12" name="TextBox 11"/>
            <p:cNvSpPr txBox="1"/>
            <p:nvPr/>
          </p:nvSpPr>
          <p:spPr>
            <a:xfrm>
              <a:off x="5190759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</a:t>
              </a:r>
              <a:r>
                <a:rPr lang="en-US" sz="1600" b="1" smtClean="0"/>
                <a:t>&gt; 2 ?</a:t>
              </a:r>
              <a:endParaRPr lang="en-US" sz="1600" b="1" dirty="0"/>
            </a:p>
          </p:txBody>
        </p:sp>
        <p:sp useBgFill="1">
          <p:nvSpPr>
            <p:cNvPr id="13" name="TextBox 12"/>
            <p:cNvSpPr txBox="1"/>
            <p:nvPr/>
          </p:nvSpPr>
          <p:spPr>
            <a:xfrm>
              <a:off x="7329771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5 ?</a:t>
              </a:r>
              <a:endParaRPr lang="en-US" sz="1600" b="1" dirty="0"/>
            </a:p>
          </p:txBody>
        </p:sp>
        <p:sp useBgFill="1">
          <p:nvSpPr>
            <p:cNvPr id="14" name="TextBox 13"/>
            <p:cNvSpPr txBox="1"/>
            <p:nvPr/>
          </p:nvSpPr>
          <p:spPr>
            <a:xfrm>
              <a:off x="6679364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4 ?</a:t>
              </a:r>
              <a:endParaRPr lang="en-US" sz="1600" b="1" dirty="0"/>
            </a:p>
          </p:txBody>
        </p:sp>
        <p:sp useBgFill="1">
          <p:nvSpPr>
            <p:cNvPr id="15" name="TextBox 14"/>
            <p:cNvSpPr txBox="1"/>
            <p:nvPr/>
          </p:nvSpPr>
          <p:spPr>
            <a:xfrm>
              <a:off x="8288294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6 ?</a:t>
              </a:r>
              <a:endParaRPr lang="en-US" sz="1600" b="1" dirty="0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921894" y="6381442"/>
            <a:ext cx="93313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http://csunplugged.org/</a:t>
            </a:r>
            <a:r>
              <a:rPr lang="en-US" dirty="0" err="1"/>
              <a:t>wp</a:t>
            </a:r>
            <a:r>
              <a:rPr lang="en-US" dirty="0"/>
              <a:t>-content/uploads/2014/12/unplugged-05-information_theory.pdf</a:t>
            </a:r>
          </a:p>
        </p:txBody>
      </p:sp>
    </p:spTree>
    <p:extLst>
      <p:ext uri="{BB962C8B-B14F-4D97-AF65-F5344CB8AC3E}">
        <p14:creationId xmlns:p14="http://schemas.microsoft.com/office/powerpoint/2010/main" val="195953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0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057577" y="3014990"/>
            <a:ext cx="5381885" cy="2336498"/>
            <a:chOff x="3057577" y="3021572"/>
            <a:chExt cx="6489266" cy="311129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577" y="3021572"/>
              <a:ext cx="6489266" cy="3111292"/>
            </a:xfrm>
            <a:prstGeom prst="rect">
              <a:avLst/>
            </a:prstGeom>
          </p:spPr>
        </p:pic>
        <p:sp useBgFill="1">
          <p:nvSpPr>
            <p:cNvPr id="9" name="TextBox 8"/>
            <p:cNvSpPr txBox="1"/>
            <p:nvPr/>
          </p:nvSpPr>
          <p:spPr>
            <a:xfrm>
              <a:off x="5947370" y="3061494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3 ?</a:t>
              </a:r>
              <a:endParaRPr lang="en-US" sz="1600" b="1" dirty="0"/>
            </a:p>
          </p:txBody>
        </p:sp>
        <p:sp useBgFill="1">
          <p:nvSpPr>
            <p:cNvPr id="10" name="TextBox 9"/>
            <p:cNvSpPr txBox="1"/>
            <p:nvPr/>
          </p:nvSpPr>
          <p:spPr>
            <a:xfrm>
              <a:off x="4546182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1 ?</a:t>
              </a:r>
              <a:endParaRPr lang="en-US" sz="1600" b="1" dirty="0"/>
            </a:p>
          </p:txBody>
        </p:sp>
        <p:sp useBgFill="1">
          <p:nvSpPr>
            <p:cNvPr id="11" name="TextBox 10"/>
            <p:cNvSpPr txBox="1"/>
            <p:nvPr/>
          </p:nvSpPr>
          <p:spPr>
            <a:xfrm>
              <a:off x="3504782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0 ?</a:t>
              </a:r>
              <a:endParaRPr lang="en-US" sz="1600" b="1" dirty="0"/>
            </a:p>
          </p:txBody>
        </p:sp>
        <p:sp useBgFill="1">
          <p:nvSpPr>
            <p:cNvPr id="12" name="TextBox 11"/>
            <p:cNvSpPr txBox="1"/>
            <p:nvPr/>
          </p:nvSpPr>
          <p:spPr>
            <a:xfrm>
              <a:off x="5190759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</a:t>
              </a:r>
              <a:r>
                <a:rPr lang="en-US" sz="1600" b="1" smtClean="0"/>
                <a:t>&gt; 2 ?</a:t>
              </a:r>
              <a:endParaRPr lang="en-US" sz="1600" b="1" dirty="0"/>
            </a:p>
          </p:txBody>
        </p:sp>
        <p:sp useBgFill="1">
          <p:nvSpPr>
            <p:cNvPr id="13" name="TextBox 12"/>
            <p:cNvSpPr txBox="1"/>
            <p:nvPr/>
          </p:nvSpPr>
          <p:spPr>
            <a:xfrm>
              <a:off x="7329771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5 ?</a:t>
              </a:r>
              <a:endParaRPr lang="en-US" sz="1600" b="1" dirty="0"/>
            </a:p>
          </p:txBody>
        </p:sp>
        <p:sp useBgFill="1">
          <p:nvSpPr>
            <p:cNvPr id="14" name="TextBox 13"/>
            <p:cNvSpPr txBox="1"/>
            <p:nvPr/>
          </p:nvSpPr>
          <p:spPr>
            <a:xfrm>
              <a:off x="6679364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4 ?</a:t>
              </a:r>
              <a:endParaRPr lang="en-US" sz="1600" b="1" dirty="0"/>
            </a:p>
          </p:txBody>
        </p:sp>
        <p:sp useBgFill="1">
          <p:nvSpPr>
            <p:cNvPr id="15" name="TextBox 14"/>
            <p:cNvSpPr txBox="1"/>
            <p:nvPr/>
          </p:nvSpPr>
          <p:spPr>
            <a:xfrm>
              <a:off x="8288294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6 ?</a:t>
              </a:r>
              <a:endParaRPr lang="en-US" sz="1600" b="1" dirty="0"/>
            </a:p>
          </p:txBody>
        </p:sp>
      </p:grp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42657"/>
              </p:ext>
            </p:extLst>
          </p:nvPr>
        </p:nvGraphicFramePr>
        <p:xfrm>
          <a:off x="3237603" y="5351488"/>
          <a:ext cx="5296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118"/>
                <a:gridCol w="662118"/>
                <a:gridCol w="662118"/>
                <a:gridCol w="662118"/>
                <a:gridCol w="662118"/>
                <a:gridCol w="662118"/>
                <a:gridCol w="662118"/>
                <a:gridCol w="6621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291528" y="2999889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237603" y="5278952"/>
            <a:ext cx="2683512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129450" y="3594875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237603" y="5278952"/>
            <a:ext cx="1351575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282197" y="4331552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3223570" y="5272704"/>
            <a:ext cx="689820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2899166" y="4936894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5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057577" y="3014990"/>
            <a:ext cx="5381885" cy="2336498"/>
            <a:chOff x="3057577" y="3021572"/>
            <a:chExt cx="6489266" cy="311129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7577" y="3021572"/>
              <a:ext cx="6489266" cy="3111292"/>
            </a:xfrm>
            <a:prstGeom prst="rect">
              <a:avLst/>
            </a:prstGeom>
          </p:spPr>
        </p:pic>
        <p:sp useBgFill="1">
          <p:nvSpPr>
            <p:cNvPr id="9" name="TextBox 8"/>
            <p:cNvSpPr txBox="1"/>
            <p:nvPr/>
          </p:nvSpPr>
          <p:spPr>
            <a:xfrm>
              <a:off x="5947370" y="3061494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3 ?</a:t>
              </a:r>
              <a:endParaRPr lang="en-US" sz="1600" b="1" dirty="0"/>
            </a:p>
          </p:txBody>
        </p:sp>
        <p:sp useBgFill="1">
          <p:nvSpPr>
            <p:cNvPr id="10" name="TextBox 9"/>
            <p:cNvSpPr txBox="1"/>
            <p:nvPr/>
          </p:nvSpPr>
          <p:spPr>
            <a:xfrm>
              <a:off x="4546182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1 ?</a:t>
              </a:r>
              <a:endParaRPr lang="en-US" sz="1600" b="1" dirty="0"/>
            </a:p>
          </p:txBody>
        </p:sp>
        <p:sp useBgFill="1">
          <p:nvSpPr>
            <p:cNvPr id="11" name="TextBox 10"/>
            <p:cNvSpPr txBox="1"/>
            <p:nvPr/>
          </p:nvSpPr>
          <p:spPr>
            <a:xfrm>
              <a:off x="3504782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0 ?</a:t>
              </a:r>
              <a:endParaRPr lang="en-US" sz="1600" b="1" dirty="0"/>
            </a:p>
          </p:txBody>
        </p:sp>
        <p:sp useBgFill="1">
          <p:nvSpPr>
            <p:cNvPr id="12" name="TextBox 11"/>
            <p:cNvSpPr txBox="1"/>
            <p:nvPr/>
          </p:nvSpPr>
          <p:spPr>
            <a:xfrm>
              <a:off x="5190759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</a:t>
              </a:r>
              <a:r>
                <a:rPr lang="en-US" sz="1600" b="1" smtClean="0"/>
                <a:t>&gt; 2 ?</a:t>
              </a:r>
              <a:endParaRPr lang="en-US" sz="1600" b="1" dirty="0"/>
            </a:p>
          </p:txBody>
        </p:sp>
        <p:sp useBgFill="1">
          <p:nvSpPr>
            <p:cNvPr id="13" name="TextBox 12"/>
            <p:cNvSpPr txBox="1"/>
            <p:nvPr/>
          </p:nvSpPr>
          <p:spPr>
            <a:xfrm>
              <a:off x="7329771" y="3837056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5 ?</a:t>
              </a:r>
              <a:endParaRPr lang="en-US" sz="1600" b="1" dirty="0"/>
            </a:p>
          </p:txBody>
        </p:sp>
        <p:sp useBgFill="1">
          <p:nvSpPr>
            <p:cNvPr id="14" name="TextBox 13"/>
            <p:cNvSpPr txBox="1"/>
            <p:nvPr/>
          </p:nvSpPr>
          <p:spPr>
            <a:xfrm>
              <a:off x="6679364" y="4800973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4 ?</a:t>
              </a:r>
              <a:endParaRPr lang="en-US" sz="1600" b="1" dirty="0"/>
            </a:p>
          </p:txBody>
        </p:sp>
        <p:sp useBgFill="1">
          <p:nvSpPr>
            <p:cNvPr id="15" name="TextBox 14"/>
            <p:cNvSpPr txBox="1"/>
            <p:nvPr/>
          </p:nvSpPr>
          <p:spPr>
            <a:xfrm>
              <a:off x="8288294" y="4786371"/>
              <a:ext cx="104140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X &gt; 6 ?</a:t>
              </a:r>
              <a:endParaRPr lang="en-US" sz="1600" b="1" dirty="0"/>
            </a:p>
          </p:txBody>
        </p:sp>
      </p:grp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42657"/>
              </p:ext>
            </p:extLst>
          </p:nvPr>
        </p:nvGraphicFramePr>
        <p:xfrm>
          <a:off x="3237603" y="5351488"/>
          <a:ext cx="5296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118"/>
                <a:gridCol w="662118"/>
                <a:gridCol w="662118"/>
                <a:gridCol w="662118"/>
                <a:gridCol w="662118"/>
                <a:gridCol w="662118"/>
                <a:gridCol w="662118"/>
                <a:gridCol w="66211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291528" y="2999889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865068" y="5266222"/>
            <a:ext cx="2683512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50373" y="3539040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5877235" y="5266222"/>
            <a:ext cx="1351575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5886075" y="4273910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517004" y="5259886"/>
            <a:ext cx="689820" cy="515912"/>
          </a:xfrm>
          <a:prstGeom prst="roundRect">
            <a:avLst/>
          </a:prstGeom>
          <a:solidFill>
            <a:srgbClr val="00B05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335202" y="4861117"/>
            <a:ext cx="1026391" cy="447738"/>
          </a:xfrm>
          <a:prstGeom prst="round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54643"/>
          </a:xfrm>
        </p:spPr>
        <p:txBody>
          <a:bodyPr>
            <a:normAutofit/>
          </a:bodyPr>
          <a:lstStyle/>
          <a:p>
            <a:r>
              <a:rPr lang="en-US" dirty="0" smtClean="0"/>
              <a:t>If the number is bigger than 1 then:</a:t>
            </a:r>
          </a:p>
          <a:p>
            <a:pPr lvl="1"/>
            <a:r>
              <a:rPr lang="en-US" i="0" dirty="0" smtClean="0"/>
              <a:t>If the number is bigger than 2 then:</a:t>
            </a:r>
          </a:p>
          <a:p>
            <a:pPr lvl="2"/>
            <a:r>
              <a:rPr lang="en-US" dirty="0" smtClean="0"/>
              <a:t>The number is 3</a:t>
            </a:r>
            <a:endParaRPr lang="en-US" i="0" dirty="0" smtClean="0"/>
          </a:p>
          <a:p>
            <a:pPr lvl="1"/>
            <a:r>
              <a:rPr lang="en-US" i="0" dirty="0" smtClean="0"/>
              <a:t>Else:</a:t>
            </a:r>
          </a:p>
          <a:p>
            <a:pPr lvl="2"/>
            <a:r>
              <a:rPr lang="en-US" dirty="0" smtClean="0"/>
              <a:t>The number is 2</a:t>
            </a:r>
          </a:p>
          <a:p>
            <a:r>
              <a:rPr lang="en-US" dirty="0" smtClean="0"/>
              <a:t>Else:</a:t>
            </a:r>
          </a:p>
          <a:p>
            <a:pPr lvl="1"/>
            <a:r>
              <a:rPr lang="en-US" i="0" dirty="0" smtClean="0"/>
              <a:t>If the number is bigger than 0 then:</a:t>
            </a:r>
          </a:p>
          <a:p>
            <a:pPr lvl="2"/>
            <a:r>
              <a:rPr lang="en-US" dirty="0" smtClean="0"/>
              <a:t>The number is 1</a:t>
            </a:r>
          </a:p>
          <a:p>
            <a:pPr lvl="1"/>
            <a:r>
              <a:rPr lang="en-US" i="0" dirty="0" smtClean="0"/>
              <a:t>Else:</a:t>
            </a:r>
          </a:p>
          <a:p>
            <a:pPr lvl="2"/>
            <a:r>
              <a:rPr lang="en-US" dirty="0" smtClean="0"/>
              <a:t>The number is 0</a:t>
            </a:r>
            <a:endParaRPr lang="en-US" i="0"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1828740"/>
            <a:ext cx="3924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Guess a number between 0 and 3:</a:t>
            </a:r>
            <a:endParaRPr lang="en-US" sz="20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7303969" y="2813068"/>
            <a:ext cx="3978903" cy="2415625"/>
            <a:chOff x="7842812" y="2139597"/>
            <a:chExt cx="3978903" cy="2415625"/>
          </a:xfrm>
        </p:grpSpPr>
        <p:sp>
          <p:nvSpPr>
            <p:cNvPr id="5" name="TextBox 4"/>
            <p:cNvSpPr txBox="1"/>
            <p:nvPr/>
          </p:nvSpPr>
          <p:spPr>
            <a:xfrm>
              <a:off x="9297474" y="2139597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1?</a:t>
              </a:r>
              <a:endParaRPr lang="en-US" dirty="0"/>
            </a:p>
          </p:txBody>
        </p:sp>
        <p:cxnSp>
          <p:nvCxnSpPr>
            <p:cNvPr id="16" name="Straight Arrow Connector 15"/>
            <p:cNvCxnSpPr>
              <a:stCxn id="5" idx="2"/>
            </p:cNvCxnSpPr>
            <p:nvPr/>
          </p:nvCxnSpPr>
          <p:spPr>
            <a:xfrm flipH="1">
              <a:off x="8967691" y="2508929"/>
              <a:ext cx="733099" cy="67445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5" idx="2"/>
              <a:endCxn id="21" idx="0"/>
            </p:cNvCxnSpPr>
            <p:nvPr/>
          </p:nvCxnSpPr>
          <p:spPr>
            <a:xfrm>
              <a:off x="9700790" y="2508929"/>
              <a:ext cx="1084648" cy="60409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8649898" y="3145124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0?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382122" y="3113021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&gt; 2?</a:t>
              </a:r>
              <a:endParaRPr lang="en-US" dirty="0"/>
            </a:p>
          </p:txBody>
        </p:sp>
        <p:cxnSp>
          <p:nvCxnSpPr>
            <p:cNvPr id="22" name="Straight Arrow Connector 21"/>
            <p:cNvCxnSpPr>
              <a:endCxn id="28" idx="0"/>
            </p:cNvCxnSpPr>
            <p:nvPr/>
          </p:nvCxnSpPr>
          <p:spPr>
            <a:xfrm flipH="1">
              <a:off x="8187618" y="3467499"/>
              <a:ext cx="780073" cy="718391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29" idx="0"/>
            </p:cNvCxnSpPr>
            <p:nvPr/>
          </p:nvCxnSpPr>
          <p:spPr>
            <a:xfrm>
              <a:off x="8968144" y="3482353"/>
              <a:ext cx="410708" cy="69785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10052339" y="3438686"/>
              <a:ext cx="733099" cy="67445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10785438" y="3438686"/>
              <a:ext cx="767538" cy="61565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842812" y="4185890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0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34046" y="4180205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1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789560" y="4153788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2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132103" y="4110121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 = 3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41530" y="253089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173101" y="2482347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81036" y="351383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173498" y="352942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99284" y="3513836"/>
              <a:ext cx="4299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no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81630" y="3482353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yes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349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Coding: </a:t>
            </a:r>
            <a:r>
              <a:rPr lang="en-US" sz="3600" dirty="0"/>
              <a:t>Decision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4948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Code the previous decision tree using ScratchX  </a:t>
            </a:r>
            <a:r>
              <a:rPr lang="en-US" sz="2600" dirty="0" smtClean="0"/>
              <a:t>(http</a:t>
            </a:r>
            <a:r>
              <a:rPr lang="en-US" sz="2600" dirty="0"/>
              <a:t>://</a:t>
            </a:r>
            <a:r>
              <a:rPr lang="en-US" sz="2600" dirty="0" smtClean="0"/>
              <a:t>scratchx.org)</a:t>
            </a:r>
            <a:endParaRPr lang="en-US" sz="3000" dirty="0" smtClean="0"/>
          </a:p>
          <a:p>
            <a:r>
              <a:rPr lang="en-US" dirty="0"/>
              <a:t>If the number is bigger than 1 then:</a:t>
            </a:r>
          </a:p>
          <a:p>
            <a:pPr lvl="1"/>
            <a:r>
              <a:rPr lang="en-US" i="0" dirty="0"/>
              <a:t>If the number is bigger than 2 then:</a:t>
            </a:r>
          </a:p>
          <a:p>
            <a:pPr lvl="2"/>
            <a:r>
              <a:rPr lang="en-US" dirty="0"/>
              <a:t>The number is 3</a:t>
            </a:r>
          </a:p>
          <a:p>
            <a:pPr lvl="1"/>
            <a:r>
              <a:rPr lang="en-US" i="0" dirty="0"/>
              <a:t>Else:</a:t>
            </a:r>
          </a:p>
          <a:p>
            <a:pPr lvl="2"/>
            <a:r>
              <a:rPr lang="en-US" dirty="0"/>
              <a:t>The number is 2</a:t>
            </a:r>
          </a:p>
          <a:p>
            <a:r>
              <a:rPr lang="en-US" dirty="0"/>
              <a:t>Else:</a:t>
            </a:r>
          </a:p>
          <a:p>
            <a:pPr lvl="1"/>
            <a:r>
              <a:rPr lang="en-US" i="0" dirty="0"/>
              <a:t>If the number is bigger than 0 then:</a:t>
            </a:r>
          </a:p>
          <a:p>
            <a:pPr lvl="2"/>
            <a:r>
              <a:rPr lang="en-US" dirty="0"/>
              <a:t>The number is 1</a:t>
            </a:r>
          </a:p>
          <a:p>
            <a:pPr lvl="1"/>
            <a:r>
              <a:rPr lang="en-US" i="0" dirty="0"/>
              <a:t>Else:</a:t>
            </a:r>
          </a:p>
          <a:p>
            <a:pPr lvl="2"/>
            <a:r>
              <a:rPr lang="en-US" dirty="0"/>
              <a:t>The number is 0</a:t>
            </a:r>
          </a:p>
          <a:p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7105649" y="2838450"/>
            <a:ext cx="4552951" cy="4019550"/>
            <a:chOff x="1904999" y="685800"/>
            <a:chExt cx="6934202" cy="564968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4" t="10001" r="56006" b="7618"/>
            <a:stretch/>
          </p:blipFill>
          <p:spPr>
            <a:xfrm>
              <a:off x="1904999" y="685800"/>
              <a:ext cx="4629151" cy="564968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139" t="10000" r="17594" b="7619"/>
            <a:stretch/>
          </p:blipFill>
          <p:spPr>
            <a:xfrm>
              <a:off x="6534150" y="685800"/>
              <a:ext cx="2305051" cy="5649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121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</p:sp>
      <p:grpSp>
        <p:nvGrpSpPr>
          <p:cNvPr id="14" name="Group 13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5" name="Freeform 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6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522" y="1480930"/>
            <a:ext cx="5301138" cy="32543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cap="all" dirty="0" smtClean="0"/>
              <a:t>ALGORITHM: PATTERN RECOGNITION</a:t>
            </a:r>
            <a:endParaRPr lang="en-US" sz="6600" cap="all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6" b="28136"/>
          <a:stretch/>
        </p:blipFill>
        <p:spPr>
          <a:xfrm>
            <a:off x="7561884" y="1694277"/>
            <a:ext cx="3847892" cy="304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 smtClean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Rock-Paper-Scissors: Human VS Computer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27" t="39096" r="19196" b="23164"/>
          <a:stretch/>
        </p:blipFill>
        <p:spPr>
          <a:xfrm>
            <a:off x="1885950" y="2909850"/>
            <a:ext cx="6586780" cy="25882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27415" y="5809736"/>
            <a:ext cx="74417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www.nytimes.com/interactive/science/rock-paper-scissors.html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853730" y="3603794"/>
            <a:ext cx="30991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computer guesses</a:t>
            </a:r>
          </a:p>
          <a:p>
            <a:r>
              <a:rPr lang="en-US" dirty="0"/>
              <a:t>w</a:t>
            </a:r>
            <a:r>
              <a:rPr lang="en-US" dirty="0" smtClean="0"/>
              <a:t>hat we are going to do</a:t>
            </a:r>
          </a:p>
          <a:p>
            <a:r>
              <a:rPr lang="en-US" dirty="0" smtClean="0"/>
              <a:t>next based on the patterns of </a:t>
            </a:r>
          </a:p>
          <a:p>
            <a:r>
              <a:rPr lang="en-US" dirty="0" smtClean="0"/>
              <a:t>our previous throws</a:t>
            </a:r>
          </a:p>
        </p:txBody>
      </p:sp>
    </p:spTree>
    <p:extLst>
      <p:ext uri="{BB962C8B-B14F-4D97-AF65-F5344CB8AC3E}">
        <p14:creationId xmlns:p14="http://schemas.microsoft.com/office/powerpoint/2010/main" val="185565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Algorithm: </a:t>
            </a:r>
            <a:r>
              <a:rPr lang="en-US" sz="3600" dirty="0" smtClean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 exercise: Translate a language you don’t know</a:t>
            </a:r>
          </a:p>
          <a:p>
            <a:pPr lvl="1"/>
            <a:r>
              <a:rPr lang="en-US" dirty="0" smtClean="0"/>
              <a:t>Tshiluba: one of the official languages of the Democratic Republic of the Congo</a:t>
            </a:r>
          </a:p>
          <a:p>
            <a:pPr lvl="1"/>
            <a:r>
              <a:rPr lang="en-US" dirty="0" smtClean="0"/>
              <a:t>You are given some example sentences in Tshiluba with their English translations</a:t>
            </a:r>
          </a:p>
          <a:p>
            <a:pPr lvl="1"/>
            <a:r>
              <a:rPr lang="en-US" dirty="0" smtClean="0"/>
              <a:t>You will be asked to:</a:t>
            </a:r>
          </a:p>
          <a:p>
            <a:pPr lvl="2"/>
            <a:r>
              <a:rPr lang="en-US" dirty="0" smtClean="0"/>
              <a:t>translate English sentences into Tshiluba</a:t>
            </a:r>
          </a:p>
          <a:p>
            <a:pPr lvl="2"/>
            <a:r>
              <a:rPr lang="en-US" dirty="0" smtClean="0"/>
              <a:t>Translate Tshiluba sentences into English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6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20" y="1620218"/>
            <a:ext cx="8178719" cy="47524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50211" y="6279729"/>
            <a:ext cx="263841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0" dirty="0" smtClean="0"/>
              <a:t>bakaji bavwa bamona bana</a:t>
            </a:r>
            <a:endParaRPr lang="en-US" sz="1650" dirty="0"/>
          </a:p>
        </p:txBody>
      </p:sp>
      <p:sp>
        <p:nvSpPr>
          <p:cNvPr id="7" name="TextBox 6"/>
          <p:cNvSpPr txBox="1"/>
          <p:nvPr/>
        </p:nvSpPr>
        <p:spPr>
          <a:xfrm>
            <a:off x="6654330" y="6279729"/>
            <a:ext cx="2725041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0" dirty="0" smtClean="0"/>
              <a:t>The women saw the children</a:t>
            </a:r>
            <a:endParaRPr lang="en-US" sz="16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6705" y="6264231"/>
            <a:ext cx="0" cy="3617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62077" y="6264230"/>
            <a:ext cx="0" cy="3462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630469" y="6279729"/>
            <a:ext cx="0" cy="3462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696705" y="6625978"/>
            <a:ext cx="793376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27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9831" y="1735810"/>
            <a:ext cx="224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Translate to Tshiluba: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76" y="2218410"/>
            <a:ext cx="3848478" cy="1454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9831" y="3887492"/>
            <a:ext cx="985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Given that the Tshiluba word for ”fruit” is </a:t>
            </a:r>
            <a:r>
              <a:rPr lang="en-US" i="1" dirty="0" smtClean="0"/>
              <a:t>cimuma </a:t>
            </a:r>
            <a:r>
              <a:rPr lang="en-US" dirty="0" smtClean="0"/>
              <a:t>and “fruits” is </a:t>
            </a:r>
            <a:r>
              <a:rPr lang="en-US" i="1" dirty="0" smtClean="0"/>
              <a:t>bimuma</a:t>
            </a:r>
            <a:r>
              <a:rPr lang="en-US" dirty="0"/>
              <a:t> </a:t>
            </a:r>
            <a:r>
              <a:rPr lang="en-US" dirty="0" smtClean="0"/>
              <a:t>; translate these to English: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76" y="4471219"/>
            <a:ext cx="4514634" cy="70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0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9930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child: </a:t>
            </a:r>
            <a:r>
              <a:rPr lang="en-US" dirty="0" err="1" smtClean="0"/>
              <a:t>muana</a:t>
            </a:r>
            <a:endParaRPr lang="en-US" dirty="0" smtClean="0"/>
          </a:p>
          <a:p>
            <a:r>
              <a:rPr lang="en-US" dirty="0" smtClean="0"/>
              <a:t>The children: bana</a:t>
            </a:r>
          </a:p>
          <a:p>
            <a:r>
              <a:rPr lang="en-US" dirty="0" smtClean="0"/>
              <a:t>The woman: </a:t>
            </a:r>
            <a:r>
              <a:rPr lang="en-US" dirty="0" err="1" smtClean="0"/>
              <a:t>mukaji</a:t>
            </a:r>
            <a:endParaRPr lang="en-US" dirty="0" smtClean="0"/>
          </a:p>
          <a:p>
            <a:r>
              <a:rPr lang="en-US" dirty="0" smtClean="0"/>
              <a:t>The women: bakaji</a:t>
            </a:r>
          </a:p>
          <a:p>
            <a:r>
              <a:rPr lang="en-US" dirty="0" smtClean="0"/>
              <a:t>The man: </a:t>
            </a:r>
            <a:r>
              <a:rPr lang="en-US" dirty="0" err="1" smtClean="0"/>
              <a:t>muluma</a:t>
            </a:r>
            <a:endParaRPr lang="en-US" dirty="0" smtClean="0"/>
          </a:p>
          <a:p>
            <a:r>
              <a:rPr lang="en-US" dirty="0" smtClean="0"/>
              <a:t>The men: </a:t>
            </a:r>
            <a:r>
              <a:rPr lang="en-US" dirty="0" err="1" smtClean="0"/>
              <a:t>baluma</a:t>
            </a:r>
            <a:endParaRPr lang="en-US" dirty="0" smtClean="0"/>
          </a:p>
          <a:p>
            <a:r>
              <a:rPr lang="en-US" dirty="0" smtClean="0"/>
              <a:t>The lion: </a:t>
            </a:r>
            <a:r>
              <a:rPr lang="en-US" dirty="0" err="1" smtClean="0"/>
              <a:t>ntambwe</a:t>
            </a:r>
            <a:endParaRPr lang="en-US" dirty="0" smtClean="0"/>
          </a:p>
          <a:p>
            <a:r>
              <a:rPr lang="en-US" dirty="0" smtClean="0"/>
              <a:t>The lions: </a:t>
            </a:r>
            <a:r>
              <a:rPr lang="en-US" dirty="0" err="1" smtClean="0"/>
              <a:t>bantambwe</a:t>
            </a:r>
            <a:endParaRPr lang="en-US" dirty="0" smtClean="0"/>
          </a:p>
          <a:p>
            <a:r>
              <a:rPr lang="en-US" dirty="0" smtClean="0"/>
              <a:t>The small lions: </a:t>
            </a:r>
            <a:r>
              <a:rPr lang="en-US" dirty="0" err="1" smtClean="0"/>
              <a:t>tubantambwe</a:t>
            </a:r>
            <a:endParaRPr lang="en-US" dirty="0" smtClean="0"/>
          </a:p>
          <a:p>
            <a:r>
              <a:rPr lang="en-US" dirty="0" smtClean="0"/>
              <a:t>The small lion: </a:t>
            </a:r>
            <a:r>
              <a:rPr lang="en-US" dirty="0" err="1" smtClean="0"/>
              <a:t>kantambwe</a:t>
            </a:r>
            <a:endParaRPr lang="en-US" dirty="0" smtClean="0"/>
          </a:p>
          <a:p>
            <a:r>
              <a:rPr lang="en-US" dirty="0" smtClean="0"/>
              <a:t>Saw: </a:t>
            </a:r>
            <a:r>
              <a:rPr lang="en-US" dirty="0" err="1" smtClean="0"/>
              <a:t>mumona</a:t>
            </a:r>
            <a:r>
              <a:rPr lang="en-US" dirty="0" smtClean="0"/>
              <a:t>/</a:t>
            </a:r>
            <a:r>
              <a:rPr lang="en-US" dirty="0" err="1" smtClean="0"/>
              <a:t>bamona</a:t>
            </a:r>
            <a:r>
              <a:rPr lang="en-US" dirty="0" smtClean="0"/>
              <a:t>/</a:t>
            </a:r>
            <a:r>
              <a:rPr lang="en-US" dirty="0" err="1" smtClean="0"/>
              <a:t>tumona</a:t>
            </a:r>
            <a:r>
              <a:rPr lang="en-US" dirty="0" smtClean="0"/>
              <a:t>/</a:t>
            </a:r>
            <a:r>
              <a:rPr lang="en-US" dirty="0" err="1" smtClean="0"/>
              <a:t>kamona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</a:t>
            </a:r>
            <a:r>
              <a:rPr lang="en-US" sz="3600" dirty="0"/>
              <a:t>Pattern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9831" y="1735810"/>
            <a:ext cx="224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Translate to Tshiluba: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76" y="2218410"/>
            <a:ext cx="3848478" cy="1454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9831" y="3887492"/>
            <a:ext cx="985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Given that the Tshiluba word for ”fruit” is </a:t>
            </a:r>
            <a:r>
              <a:rPr lang="en-US" i="1" dirty="0" smtClean="0"/>
              <a:t>cimuma </a:t>
            </a:r>
            <a:r>
              <a:rPr lang="en-US" dirty="0" smtClean="0"/>
              <a:t>and “fruits” is </a:t>
            </a:r>
            <a:r>
              <a:rPr lang="en-US" i="1" dirty="0" smtClean="0"/>
              <a:t>bimuma</a:t>
            </a:r>
            <a:r>
              <a:rPr lang="en-US" dirty="0"/>
              <a:t> </a:t>
            </a:r>
            <a:r>
              <a:rPr lang="en-US" dirty="0" smtClean="0"/>
              <a:t>; translate these to English: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76" y="4471219"/>
            <a:ext cx="4514634" cy="704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7810" y="2105142"/>
            <a:ext cx="766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mbwa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307810" y="2407249"/>
            <a:ext cx="320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</a:t>
            </a:r>
            <a:r>
              <a:rPr lang="en-US" dirty="0" err="1" smtClean="0"/>
              <a:t>uluma</a:t>
            </a:r>
            <a:r>
              <a:rPr lang="en-US" dirty="0" smtClean="0"/>
              <a:t> </a:t>
            </a:r>
            <a:r>
              <a:rPr lang="en-US" dirty="0" err="1" smtClean="0"/>
              <a:t>uvwa</a:t>
            </a:r>
            <a:r>
              <a:rPr lang="en-US" dirty="0" smtClean="0"/>
              <a:t> </a:t>
            </a:r>
            <a:r>
              <a:rPr lang="en-US" dirty="0" err="1" smtClean="0"/>
              <a:t>mumona</a:t>
            </a:r>
            <a:r>
              <a:rPr lang="en-US" dirty="0" smtClean="0"/>
              <a:t> </a:t>
            </a:r>
            <a:r>
              <a:rPr lang="en-US" dirty="0" err="1" smtClean="0"/>
              <a:t>muana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07810" y="2710023"/>
            <a:ext cx="3132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nzolu</a:t>
            </a:r>
            <a:r>
              <a:rPr lang="en-US" dirty="0" smtClean="0"/>
              <a:t> </a:t>
            </a:r>
            <a:r>
              <a:rPr lang="en-US" dirty="0" err="1" smtClean="0"/>
              <a:t>uvwa</a:t>
            </a:r>
            <a:r>
              <a:rPr lang="en-US" dirty="0" smtClean="0"/>
              <a:t> </a:t>
            </a:r>
            <a:r>
              <a:rPr lang="en-US" dirty="0" err="1" smtClean="0"/>
              <a:t>mumona</a:t>
            </a:r>
            <a:r>
              <a:rPr lang="en-US" dirty="0" smtClean="0"/>
              <a:t> </a:t>
            </a:r>
            <a:r>
              <a:rPr lang="en-US" dirty="0" err="1" smtClean="0"/>
              <a:t>bambwa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07809" y="3001887"/>
            <a:ext cx="2620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kulu</a:t>
            </a:r>
            <a:r>
              <a:rPr lang="en-US" dirty="0" smtClean="0"/>
              <a:t> </a:t>
            </a:r>
            <a:r>
              <a:rPr lang="en-US" dirty="0" err="1" smtClean="0"/>
              <a:t>uvwa</a:t>
            </a:r>
            <a:r>
              <a:rPr lang="en-US" dirty="0" smtClean="0"/>
              <a:t> </a:t>
            </a:r>
            <a:r>
              <a:rPr lang="en-US" dirty="0" err="1" smtClean="0"/>
              <a:t>mupeta</a:t>
            </a:r>
            <a:r>
              <a:rPr lang="en-US" dirty="0" smtClean="0"/>
              <a:t> </a:t>
            </a:r>
            <a:r>
              <a:rPr lang="en-US" dirty="0" err="1" smtClean="0"/>
              <a:t>mbuji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06559" y="3282611"/>
            <a:ext cx="3026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tubambuji</a:t>
            </a:r>
            <a:r>
              <a:rPr lang="en-US" dirty="0" smtClean="0"/>
              <a:t> </a:t>
            </a:r>
            <a:r>
              <a:rPr lang="en-US" dirty="0" err="1" smtClean="0"/>
              <a:t>tuvwa</a:t>
            </a:r>
            <a:r>
              <a:rPr lang="en-US" dirty="0" smtClean="0"/>
              <a:t> </a:t>
            </a:r>
            <a:r>
              <a:rPr lang="en-US" dirty="0" err="1" smtClean="0"/>
              <a:t>tupeta</a:t>
            </a:r>
            <a:r>
              <a:rPr lang="en-US" dirty="0" smtClean="0"/>
              <a:t> kana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306559" y="4354688"/>
            <a:ext cx="221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fruit saw the lion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06558" y="4688594"/>
            <a:ext cx="2898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lion saw the small fruits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1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week: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Algorithm: Divide and Conquer</a:t>
            </a:r>
          </a:p>
          <a:p>
            <a:pPr lvl="1"/>
            <a:r>
              <a:rPr lang="en-US" dirty="0" smtClean="0"/>
              <a:t>Sorting</a:t>
            </a:r>
          </a:p>
          <a:p>
            <a:pPr lvl="1"/>
            <a:r>
              <a:rPr lang="en-US" dirty="0" smtClean="0"/>
              <a:t>Tower of Hanoi (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www.mathsisfun.com/games/towerofhanoi.html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6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1807</TotalTime>
  <Words>645</Words>
  <Application>Microsoft Macintosh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Franklin Gothic Book</vt:lpstr>
      <vt:lpstr>Crop</vt:lpstr>
      <vt:lpstr>Computer programming</vt:lpstr>
      <vt:lpstr>Recap: What is computer programming?</vt:lpstr>
      <vt:lpstr>Coding</vt:lpstr>
      <vt:lpstr>Algorithm: Decision Trees</vt:lpstr>
      <vt:lpstr>Algorithm: Decision Trees</vt:lpstr>
      <vt:lpstr>Algorithm: Decision Trees</vt:lpstr>
      <vt:lpstr>Algorithm: Decision Trees</vt:lpstr>
      <vt:lpstr>Coding: Decision Trees</vt:lpstr>
      <vt:lpstr>Coding: Decision Trees</vt:lpstr>
      <vt:lpstr>ALGORITHM: PATTERN RECOGNITION</vt:lpstr>
      <vt:lpstr>Algorithm: Pattern Recognition</vt:lpstr>
      <vt:lpstr>Algorithm: Pattern Recognition</vt:lpstr>
      <vt:lpstr>Algorithm: Pattern Recognition</vt:lpstr>
      <vt:lpstr>Algorithm: Pattern Recognition</vt:lpstr>
      <vt:lpstr>Algorithm: Pattern Recognition</vt:lpstr>
      <vt:lpstr>Algorithm: Pattern Recognition</vt:lpstr>
      <vt:lpstr>Next week:</vt:lpstr>
      <vt:lpstr>Questions?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</dc:title>
  <dc:creator>Wijaya, Derry</dc:creator>
  <cp:lastModifiedBy>Wijaya, Derry</cp:lastModifiedBy>
  <cp:revision>63</cp:revision>
  <dcterms:created xsi:type="dcterms:W3CDTF">2017-07-28T17:08:11Z</dcterms:created>
  <dcterms:modified xsi:type="dcterms:W3CDTF">2017-08-05T05:24:32Z</dcterms:modified>
</cp:coreProperties>
</file>